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man kumar" initials="sk" lastIdx="1" clrIdx="0"/>
  <p:cmAuthor id="2" name="Windows User" initials="WU"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117" d="100"/>
          <a:sy n="117" d="100"/>
        </p:scale>
        <p:origin x="348" y="10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adeesh kumar Siddireddy" userId="176d89fd40b06188" providerId="LiveId" clId="{29D4CF35-63FB-4C70-8D74-A095F125E96B}"/>
    <pc:docChg chg="modSld">
      <pc:chgData name="Jagadeesh kumar Siddireddy" userId="176d89fd40b06188" providerId="LiveId" clId="{29D4CF35-63FB-4C70-8D74-A095F125E96B}" dt="2022-10-20T04:01:59.552" v="0" actId="5793"/>
      <pc:docMkLst>
        <pc:docMk/>
      </pc:docMkLst>
      <pc:sldChg chg="modSp mod">
        <pc:chgData name="Jagadeesh kumar Siddireddy" userId="176d89fd40b06188" providerId="LiveId" clId="{29D4CF35-63FB-4C70-8D74-A095F125E96B}" dt="2022-10-20T04:01:59.552" v="0" actId="5793"/>
        <pc:sldMkLst>
          <pc:docMk/>
          <pc:sldMk cId="0" sldId="266"/>
        </pc:sldMkLst>
        <pc:spChg chg="mod">
          <ac:chgData name="Jagadeesh kumar Siddireddy" userId="176d89fd40b06188" providerId="LiveId" clId="{29D4CF35-63FB-4C70-8D74-A095F125E96B}" dt="2022-10-20T04:01:59.552" v="0" actId="5793"/>
          <ac:spMkLst>
            <pc:docMk/>
            <pc:sldMk cId="0" sldId="266"/>
            <ac:spMk id="1048621"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1-07-17T10:20:33.627"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dirty="0"/>
          </a:p>
        </p:txBody>
      </p:sp>
      <p:sp>
        <p:nvSpPr>
          <p:cNvPr id="104870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dirty="0"/>
          </a:p>
        </p:txBody>
      </p:sp>
      <p:sp>
        <p:nvSpPr>
          <p:cNvPr id="104870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0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dirty="0"/>
          </a:p>
        </p:txBody>
      </p:sp>
      <p:sp>
        <p:nvSpPr>
          <p:cNvPr id="104870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048638"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48639"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1048640"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048641" name="Date Placeholder 27"/>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42" name="Footer Placeholder 16"/>
          <p:cNvSpPr>
            <a:spLocks noGrp="1"/>
          </p:cNvSpPr>
          <p:nvPr>
            <p:ph type="ftr" sz="quarter" idx="11"/>
          </p:nvPr>
        </p:nvSpPr>
        <p:spPr/>
        <p:txBody>
          <a:bodyPr/>
          <a:lstStyle/>
          <a:p>
            <a:endParaRPr lang="en-IN" dirty="0"/>
          </a:p>
        </p:txBody>
      </p:sp>
      <p:sp>
        <p:nvSpPr>
          <p:cNvPr id="1048643"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F241273-40C8-4230-93DA-E0E561CB8332}" type="slidenum">
              <a:rPr lang="en-IN" smtClean="0"/>
              <a:t>‹#›</a:t>
            </a:fld>
            <a:endParaRPr lang="en-IN" dirty="0"/>
          </a:p>
        </p:txBody>
      </p:sp>
      <p:sp>
        <p:nvSpPr>
          <p:cNvPr id="1048644"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45"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46"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47"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3" name="Title 1"/>
          <p:cNvSpPr>
            <a:spLocks noGrp="1"/>
          </p:cNvSpPr>
          <p:nvPr>
            <p:ph type="title"/>
          </p:nvPr>
        </p:nvSpPr>
        <p:spPr/>
        <p:txBody>
          <a:bodyPr/>
          <a:lstStyle/>
          <a:p>
            <a:r>
              <a:rPr kumimoji="0" lang="en-US"/>
              <a:t>Click to edit Master title style</a:t>
            </a:r>
          </a:p>
        </p:txBody>
      </p:sp>
      <p:sp>
        <p:nvSpPr>
          <p:cNvPr id="1048584" name="Date Placeholder 3"/>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585" name="Footer Placeholder 4"/>
          <p:cNvSpPr>
            <a:spLocks noGrp="1"/>
          </p:cNvSpPr>
          <p:nvPr>
            <p:ph type="ftr" sz="quarter" idx="11"/>
          </p:nvPr>
        </p:nvSpPr>
        <p:spPr/>
        <p:txBody>
          <a:bodyPr/>
          <a:lstStyle/>
          <a:p>
            <a:endParaRPr lang="en-IN" dirty="0"/>
          </a:p>
        </p:txBody>
      </p:sp>
      <p:sp>
        <p:nvSpPr>
          <p:cNvPr id="1048586" name="Slide Number Placeholder 5"/>
          <p:cNvSpPr>
            <a:spLocks noGrp="1"/>
          </p:cNvSpPr>
          <p:nvPr>
            <p:ph type="sldNum" sz="quarter" idx="12"/>
          </p:nvPr>
        </p:nvSpPr>
        <p:spPr/>
        <p:txBody>
          <a:bodyPr/>
          <a:lstStyle/>
          <a:p>
            <a:fld id="{CF241273-40C8-4230-93DA-E0E561CB8332}" type="slidenum">
              <a:rPr lang="en-IN" smtClean="0"/>
              <a:t>‹#›</a:t>
            </a:fld>
            <a:endParaRPr lang="en-IN" dirty="0"/>
          </a:p>
        </p:txBody>
      </p:sp>
      <p:sp>
        <p:nvSpPr>
          <p:cNvPr id="1048587"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048667"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48668"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1048669"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1048670"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671" name="Date Placeholder 3"/>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72" name="Footer Placeholder 4"/>
          <p:cNvSpPr>
            <a:spLocks noGrp="1"/>
          </p:cNvSpPr>
          <p:nvPr>
            <p:ph type="ftr" sz="quarter" idx="11"/>
          </p:nvPr>
        </p:nvSpPr>
        <p:spPr>
          <a:xfrm>
            <a:off x="1066800" y="6172200"/>
            <a:ext cx="5334000" cy="457200"/>
          </a:xfrm>
        </p:spPr>
        <p:txBody>
          <a:bodyPr/>
          <a:lstStyle/>
          <a:p>
            <a:endParaRPr lang="en-IN" dirty="0"/>
          </a:p>
        </p:txBody>
      </p:sp>
      <p:sp>
        <p:nvSpPr>
          <p:cNvPr id="1048673"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4"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5"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6" name="Slide Number Placeholder 5"/>
          <p:cNvSpPr>
            <a:spLocks noGrp="1"/>
          </p:cNvSpPr>
          <p:nvPr>
            <p:ph type="sldNum" sz="quarter" idx="12"/>
          </p:nvPr>
        </p:nvSpPr>
        <p:spPr>
          <a:xfrm>
            <a:off x="195072" y="6208776"/>
            <a:ext cx="609600" cy="457200"/>
          </a:xfrm>
        </p:spPr>
        <p:txBody>
          <a:bodyPr/>
          <a:lstStyle/>
          <a:p>
            <a:fld id="{CF241273-40C8-4230-93DA-E0E561CB8332}" type="slidenum">
              <a:rPr lang="en-IN" smtClean="0"/>
              <a:t>‹#›</a:t>
            </a:fld>
            <a:endParaRPr lang="en-IN"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77" name="Title 1"/>
          <p:cNvSpPr>
            <a:spLocks noGrp="1"/>
          </p:cNvSpPr>
          <p:nvPr>
            <p:ph type="title"/>
          </p:nvPr>
        </p:nvSpPr>
        <p:spPr/>
        <p:txBody>
          <a:bodyPr/>
          <a:lstStyle/>
          <a:p>
            <a:r>
              <a:rPr kumimoji="0" lang="en-US"/>
              <a:t>Click to edit Master title style</a:t>
            </a:r>
          </a:p>
        </p:txBody>
      </p:sp>
      <p:sp>
        <p:nvSpPr>
          <p:cNvPr id="1048678" name="Date Placeholder 4"/>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79" name="Footer Placeholder 5"/>
          <p:cNvSpPr>
            <a:spLocks noGrp="1"/>
          </p:cNvSpPr>
          <p:nvPr>
            <p:ph type="ftr" sz="quarter" idx="11"/>
          </p:nvPr>
        </p:nvSpPr>
        <p:spPr/>
        <p:txBody>
          <a:bodyPr/>
          <a:lstStyle/>
          <a:p>
            <a:endParaRPr lang="en-IN" dirty="0"/>
          </a:p>
        </p:txBody>
      </p:sp>
      <p:sp>
        <p:nvSpPr>
          <p:cNvPr id="1048680" name="Slide Number Placeholder 6"/>
          <p:cNvSpPr>
            <a:spLocks noGrp="1"/>
          </p:cNvSpPr>
          <p:nvPr>
            <p:ph type="sldNum" sz="quarter" idx="12"/>
          </p:nvPr>
        </p:nvSpPr>
        <p:spPr/>
        <p:txBody>
          <a:bodyPr/>
          <a:lstStyle/>
          <a:p>
            <a:fld id="{CF241273-40C8-4230-93DA-E0E561CB8332}" type="slidenum">
              <a:rPr lang="en-IN" smtClean="0"/>
              <a:t>‹#›</a:t>
            </a:fld>
            <a:endParaRPr lang="en-IN" dirty="0"/>
          </a:p>
        </p:txBody>
      </p:sp>
      <p:sp>
        <p:nvSpPr>
          <p:cNvPr id="1048681"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2"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3" name="Title 1"/>
          <p:cNvSpPr>
            <a:spLocks noGrp="1"/>
          </p:cNvSpPr>
          <p:nvPr>
            <p:ph type="title"/>
          </p:nvPr>
        </p:nvSpPr>
        <p:spPr>
          <a:xfrm>
            <a:off x="1219200" y="273050"/>
            <a:ext cx="10363200" cy="1143000"/>
          </a:xfrm>
        </p:spPr>
        <p:txBody>
          <a:bodyPr anchor="b" anchorCtr="0"/>
          <a:lstStyle/>
          <a:p>
            <a:r>
              <a:rPr kumimoji="0" lang="en-US"/>
              <a:t>Click to edit Master title style</a:t>
            </a:r>
          </a:p>
        </p:txBody>
      </p:sp>
      <p:sp>
        <p:nvSpPr>
          <p:cNvPr id="1048684"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685"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686" name="Date Placeholder 6"/>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87" name="Footer Placeholder 7"/>
          <p:cNvSpPr>
            <a:spLocks noGrp="1"/>
          </p:cNvSpPr>
          <p:nvPr>
            <p:ph type="ftr" sz="quarter" idx="11"/>
          </p:nvPr>
        </p:nvSpPr>
        <p:spPr/>
        <p:txBody>
          <a:bodyPr/>
          <a:lstStyle/>
          <a:p>
            <a:endParaRPr lang="en-IN" dirty="0"/>
          </a:p>
        </p:txBody>
      </p:sp>
      <p:sp>
        <p:nvSpPr>
          <p:cNvPr id="1048688" name="Slide Number Placeholder 8"/>
          <p:cNvSpPr>
            <a:spLocks noGrp="1"/>
          </p:cNvSpPr>
          <p:nvPr>
            <p:ph type="sldNum" sz="quarter" idx="12"/>
          </p:nvPr>
        </p:nvSpPr>
        <p:spPr/>
        <p:txBody>
          <a:bodyPr/>
          <a:lstStyle/>
          <a:p>
            <a:fld id="{CF241273-40C8-4230-93DA-E0E561CB8332}" type="slidenum">
              <a:rPr lang="en-IN" smtClean="0"/>
              <a:t>‹#›</a:t>
            </a:fld>
            <a:endParaRPr lang="en-IN" dirty="0"/>
          </a:p>
        </p:txBody>
      </p:sp>
      <p:sp>
        <p:nvSpPr>
          <p:cNvPr id="1048689"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90"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04" name="Title 1"/>
          <p:cNvSpPr>
            <a:spLocks noGrp="1"/>
          </p:cNvSpPr>
          <p:nvPr>
            <p:ph type="title"/>
          </p:nvPr>
        </p:nvSpPr>
        <p:spPr/>
        <p:txBody>
          <a:bodyPr/>
          <a:lstStyle/>
          <a:p>
            <a:r>
              <a:rPr kumimoji="0" lang="en-US"/>
              <a:t>Click to edit Master title style</a:t>
            </a:r>
          </a:p>
        </p:txBody>
      </p:sp>
      <p:sp>
        <p:nvSpPr>
          <p:cNvPr id="1048605" name="Date Placeholder 2"/>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06" name="Footer Placeholder 3"/>
          <p:cNvSpPr>
            <a:spLocks noGrp="1"/>
          </p:cNvSpPr>
          <p:nvPr>
            <p:ph type="ftr" sz="quarter" idx="11"/>
          </p:nvPr>
        </p:nvSpPr>
        <p:spPr/>
        <p:txBody>
          <a:bodyPr/>
          <a:lstStyle/>
          <a:p>
            <a:endParaRPr lang="en-IN" dirty="0"/>
          </a:p>
        </p:txBody>
      </p:sp>
      <p:sp>
        <p:nvSpPr>
          <p:cNvPr id="1048607" name="Slide Number Placeholder 4"/>
          <p:cNvSpPr>
            <a:spLocks noGrp="1"/>
          </p:cNvSpPr>
          <p:nvPr>
            <p:ph type="sldNum" sz="quarter" idx="12"/>
          </p:nvPr>
        </p:nvSpPr>
        <p:spPr/>
        <p:txBody>
          <a:bodyPr/>
          <a:lstStyle/>
          <a:p>
            <a:fld id="{CF241273-40C8-4230-93DA-E0E561CB8332}"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91" name="Date Placeholder 1"/>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92" name="Footer Placeholder 2"/>
          <p:cNvSpPr>
            <a:spLocks noGrp="1"/>
          </p:cNvSpPr>
          <p:nvPr>
            <p:ph type="ftr" sz="quarter" idx="11"/>
          </p:nvPr>
        </p:nvSpPr>
        <p:spPr/>
        <p:txBody>
          <a:bodyPr/>
          <a:lstStyle/>
          <a:p>
            <a:endParaRPr lang="en-IN" dirty="0"/>
          </a:p>
        </p:txBody>
      </p:sp>
      <p:sp>
        <p:nvSpPr>
          <p:cNvPr id="1048693" name="Slide Number Placeholder 3"/>
          <p:cNvSpPr>
            <a:spLocks noGrp="1"/>
          </p:cNvSpPr>
          <p:nvPr>
            <p:ph type="sldNum" sz="quarter" idx="12"/>
          </p:nvPr>
        </p:nvSpPr>
        <p:spPr/>
        <p:txBody>
          <a:bodyPr/>
          <a:lstStyle/>
          <a:p>
            <a:fld id="{CF241273-40C8-4230-93DA-E0E561CB8332}"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4"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1048695"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1048696"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1048697"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698" name="Date Placeholder 4"/>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99" name="Footer Placeholder 5"/>
          <p:cNvSpPr>
            <a:spLocks noGrp="1"/>
          </p:cNvSpPr>
          <p:nvPr>
            <p:ph type="ftr" sz="quarter" idx="11"/>
          </p:nvPr>
        </p:nvSpPr>
        <p:spPr/>
        <p:txBody>
          <a:bodyPr/>
          <a:lstStyle/>
          <a:p>
            <a:endParaRPr lang="en-IN" dirty="0"/>
          </a:p>
        </p:txBody>
      </p:sp>
      <p:sp>
        <p:nvSpPr>
          <p:cNvPr id="1048700" name="Slide Number Placeholder 6"/>
          <p:cNvSpPr>
            <a:spLocks noGrp="1"/>
          </p:cNvSpPr>
          <p:nvPr>
            <p:ph type="sldNum" sz="quarter" idx="12"/>
          </p:nvPr>
        </p:nvSpPr>
        <p:spPr/>
        <p:txBody>
          <a:bodyPr/>
          <a:lstStyle/>
          <a:p>
            <a:fld id="{CF241273-40C8-4230-93DA-E0E561CB8332}" type="slidenum">
              <a:rPr lang="en-IN" smtClean="0"/>
              <a:t>‹#›</a:t>
            </a:fld>
            <a:endParaRPr lang="en-IN" dirty="0"/>
          </a:p>
        </p:txBody>
      </p:sp>
      <p:sp>
        <p:nvSpPr>
          <p:cNvPr id="104870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104865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48655" name="Date Placeholder 4"/>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56" name="Footer Placeholder 5"/>
          <p:cNvSpPr>
            <a:spLocks noGrp="1"/>
          </p:cNvSpPr>
          <p:nvPr>
            <p:ph type="ftr" sz="quarter" idx="11"/>
          </p:nvPr>
        </p:nvSpPr>
        <p:spPr>
          <a:xfrm>
            <a:off x="1219200" y="6172200"/>
            <a:ext cx="5181600" cy="457200"/>
          </a:xfrm>
        </p:spPr>
        <p:txBody>
          <a:bodyPr/>
          <a:lstStyle/>
          <a:p>
            <a:endParaRPr lang="en-IN" dirty="0"/>
          </a:p>
        </p:txBody>
      </p:sp>
      <p:sp>
        <p:nvSpPr>
          <p:cNvPr id="1048657" name="Slide Number Placeholder 6"/>
          <p:cNvSpPr>
            <a:spLocks noGrp="1"/>
          </p:cNvSpPr>
          <p:nvPr>
            <p:ph type="sldNum" sz="quarter" idx="12"/>
          </p:nvPr>
        </p:nvSpPr>
        <p:spPr>
          <a:xfrm>
            <a:off x="195072" y="6208776"/>
            <a:ext cx="609600" cy="457200"/>
          </a:xfrm>
        </p:spPr>
        <p:txBody>
          <a:bodyPr/>
          <a:lstStyle/>
          <a:p>
            <a:fld id="{CF241273-40C8-4230-93DA-E0E561CB8332}" type="slidenum">
              <a:rPr lang="en-IN" smtClean="0"/>
              <a:t>‹#›</a:t>
            </a:fld>
            <a:endParaRPr lang="en-IN" dirty="0"/>
          </a:p>
        </p:txBody>
      </p:sp>
      <p:sp>
        <p:nvSpPr>
          <p:cNvPr id="1048658"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59"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60"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61"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2" name="Title 1"/>
          <p:cNvSpPr>
            <a:spLocks noGrp="1"/>
          </p:cNvSpPr>
          <p:nvPr>
            <p:ph type="title"/>
          </p:nvPr>
        </p:nvSpPr>
        <p:spPr/>
        <p:txBody>
          <a:bodyPr/>
          <a:lstStyle/>
          <a:p>
            <a:r>
              <a:rPr kumimoji="0" lang="en-US"/>
              <a:t>Click to edit Master title style</a:t>
            </a:r>
          </a:p>
        </p:txBody>
      </p:sp>
      <p:sp>
        <p:nvSpPr>
          <p:cNvPr id="104866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64" name="Date Placeholder 3"/>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65" name="Footer Placeholder 4"/>
          <p:cNvSpPr>
            <a:spLocks noGrp="1"/>
          </p:cNvSpPr>
          <p:nvPr>
            <p:ph type="ftr" sz="quarter" idx="11"/>
          </p:nvPr>
        </p:nvSpPr>
        <p:spPr/>
        <p:txBody>
          <a:bodyPr/>
          <a:lstStyle/>
          <a:p>
            <a:endParaRPr lang="en-IN" dirty="0"/>
          </a:p>
        </p:txBody>
      </p:sp>
      <p:sp>
        <p:nvSpPr>
          <p:cNvPr id="1048666" name="Slide Number Placeholder 5"/>
          <p:cNvSpPr>
            <a:spLocks noGrp="1"/>
          </p:cNvSpPr>
          <p:nvPr>
            <p:ph type="sldNum" sz="quarter" idx="12"/>
          </p:nvPr>
        </p:nvSpPr>
        <p:spPr/>
        <p:txBody>
          <a:bodyPr/>
          <a:lstStyle/>
          <a:p>
            <a:fld id="{CF241273-40C8-4230-93DA-E0E561CB8332}"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8"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1048649"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50" name="Date Placeholder 3"/>
          <p:cNvSpPr>
            <a:spLocks noGrp="1"/>
          </p:cNvSpPr>
          <p:nvPr>
            <p:ph type="dt" sz="half" idx="10"/>
          </p:nvPr>
        </p:nvSpPr>
        <p:spPr/>
        <p:txBody>
          <a:bodyPr/>
          <a:lstStyle/>
          <a:p>
            <a:fld id="{2EB98144-9305-4237-AE0F-2FC36B9BF7D8}" type="datetimeFigureOut">
              <a:rPr lang="en-IN" smtClean="0"/>
              <a:t>20-10-2022</a:t>
            </a:fld>
            <a:endParaRPr lang="en-IN" dirty="0"/>
          </a:p>
        </p:txBody>
      </p:sp>
      <p:sp>
        <p:nvSpPr>
          <p:cNvPr id="1048651" name="Footer Placeholder 4"/>
          <p:cNvSpPr>
            <a:spLocks noGrp="1"/>
          </p:cNvSpPr>
          <p:nvPr>
            <p:ph type="ftr" sz="quarter" idx="11"/>
          </p:nvPr>
        </p:nvSpPr>
        <p:spPr/>
        <p:txBody>
          <a:bodyPr/>
          <a:lstStyle/>
          <a:p>
            <a:endParaRPr lang="en-IN" dirty="0"/>
          </a:p>
        </p:txBody>
      </p:sp>
      <p:sp>
        <p:nvSpPr>
          <p:cNvPr id="1048652" name="Slide Number Placeholder 5"/>
          <p:cNvSpPr>
            <a:spLocks noGrp="1"/>
          </p:cNvSpPr>
          <p:nvPr>
            <p:ph type="sldNum" sz="quarter" idx="12"/>
          </p:nvPr>
        </p:nvSpPr>
        <p:spPr/>
        <p:txBody>
          <a:bodyPr/>
          <a:lstStyle/>
          <a:p>
            <a:fld id="{CF241273-40C8-4230-93DA-E0E561CB8332}"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48577"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1048578"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048579"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80"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2EB98144-9305-4237-AE0F-2FC36B9BF7D8}" type="datetimeFigureOut">
              <a:rPr lang="en-IN" smtClean="0"/>
              <a:t>20-10-2022</a:t>
            </a:fld>
            <a:endParaRPr lang="en-IN" dirty="0"/>
          </a:p>
        </p:txBody>
      </p:sp>
      <p:sp>
        <p:nvSpPr>
          <p:cNvPr id="1048581"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dirty="0"/>
          </a:p>
        </p:txBody>
      </p:sp>
      <p:sp>
        <p:nvSpPr>
          <p:cNvPr id="1048582"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F241273-40C8-4230-93DA-E0E561CB8332}"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1048588" name="Title 1"/>
          <p:cNvSpPr>
            <a:spLocks noGrp="1"/>
          </p:cNvSpPr>
          <p:nvPr>
            <p:ph type="title"/>
          </p:nvPr>
        </p:nvSpPr>
        <p:spPr>
          <a:xfrm>
            <a:off x="1598147" y="2377439"/>
            <a:ext cx="9155288" cy="1815738"/>
          </a:xfrm>
        </p:spPr>
        <p:txBody>
          <a:bodyPr>
            <a:normAutofit/>
          </a:bodyPr>
          <a:lstStyle/>
          <a:p>
            <a:pPr algn="ctr"/>
            <a:r>
              <a:rPr lang="en-US" sz="2800" b="1" i="1" dirty="0">
                <a:solidFill>
                  <a:schemeClr val="accent2">
                    <a:lumMod val="75000"/>
                  </a:schemeClr>
                </a:solidFill>
                <a:latin typeface="Times New Roman" panose="02020603050405020304" pitchFamily="18" charset="0"/>
                <a:cs typeface="Times New Roman" panose="02020603050405020304" pitchFamily="18" charset="0"/>
              </a:rPr>
              <a:t>Department of Electronics and Engineering</a:t>
            </a:r>
            <a:br>
              <a:rPr lang="en-US" sz="2800" b="1" i="1" dirty="0">
                <a:solidFill>
                  <a:schemeClr val="accent2">
                    <a:lumMod val="75000"/>
                  </a:schemeClr>
                </a:solidFill>
                <a:latin typeface="Times New Roman" panose="02020603050405020304" pitchFamily="18" charset="0"/>
                <a:cs typeface="Times New Roman" panose="02020603050405020304" pitchFamily="18" charset="0"/>
              </a:rPr>
            </a:br>
            <a:endParaRPr lang="en-US" sz="2800" b="1" i="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048589" name="Content Placeholder 4"/>
          <p:cNvSpPr>
            <a:spLocks noGrp="1"/>
          </p:cNvSpPr>
          <p:nvPr>
            <p:ph sz="quarter" idx="1"/>
          </p:nvPr>
        </p:nvSpPr>
        <p:spPr>
          <a:xfrm>
            <a:off x="1457325" y="1027952"/>
            <a:ext cx="9144000" cy="996157"/>
          </a:xfrm>
          <a:noFill/>
        </p:spPr>
        <p:txBody>
          <a:bodyPr anchor="ctr">
            <a:noAutofit/>
          </a:bodyPr>
          <a:lstStyle/>
          <a:p>
            <a:pPr marL="414655" marR="374650" indent="0" algn="ctr">
              <a:lnSpc>
                <a:spcPct val="115000"/>
              </a:lnSpc>
              <a:spcBef>
                <a:spcPts val="295"/>
              </a:spcBef>
              <a:spcAft>
                <a:spcPts val="600"/>
              </a:spcAft>
              <a:buNone/>
            </a:pPr>
            <a:r>
              <a:rPr lang="en-GB" sz="2800" b="1" dirty="0">
                <a:solidFill>
                  <a:srgbClr val="FF0000"/>
                </a:solidFill>
                <a:effectLst/>
                <a:latin typeface="Times New Roman" pitchFamily="18" charset="0"/>
                <a:ea typeface="Yu Mincho" panose="020B0400000000000000" pitchFamily="18" charset="-128"/>
                <a:cs typeface="Times New Roman" pitchFamily="18" charset="0"/>
              </a:rPr>
              <a:t>AN IOT BASED REAL TIME COMMUNICATION AND LOCATION TRACKING SYSTEM FOR VEHICLE EMERGENCY </a:t>
            </a:r>
            <a:endParaRPr lang="en-IN" sz="2800" b="1" dirty="0">
              <a:solidFill>
                <a:srgbClr val="FF0000"/>
              </a:solidFill>
              <a:effectLst/>
              <a:latin typeface="Times New Roman" pitchFamily="18" charset="0"/>
              <a:ea typeface="Yu Mincho" panose="020B0400000000000000" pitchFamily="18" charset="-128"/>
              <a:cs typeface="Times New Roman" pitchFamily="18" charset="0"/>
            </a:endParaRPr>
          </a:p>
          <a:p>
            <a:pPr algn="ctr">
              <a:buNone/>
            </a:pPr>
            <a:endParaRPr lang="en-US" sz="3200" b="1" dirty="0">
              <a:latin typeface="Times New Roman" panose="02020603050405020304" pitchFamily="18" charset="0"/>
              <a:cs typeface="Times New Roman" panose="02020603050405020304" pitchFamily="18" charset="0"/>
            </a:endParaRPr>
          </a:p>
        </p:txBody>
      </p:sp>
      <p:sp>
        <p:nvSpPr>
          <p:cNvPr id="1048590" name="Content Placeholder 5"/>
          <p:cNvSpPr txBox="1"/>
          <p:nvPr/>
        </p:nvSpPr>
        <p:spPr>
          <a:xfrm>
            <a:off x="6029325" y="4961160"/>
            <a:ext cx="4901784" cy="1734649"/>
          </a:xfrm>
          <a:prstGeom prst="rect">
            <a:avLst/>
          </a:prstGeom>
        </p:spPr>
        <p:txBody>
          <a:bodyPr>
            <a:normAutofit fontScale="88889" lnSpcReduction="100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2"/>
              <a:buNone/>
            </a:pPr>
            <a:r>
              <a:rPr lang="en-US" sz="1800" dirty="0">
                <a:latin typeface="Times New Roman" pitchFamily="18" charset="0"/>
                <a:cs typeface="Times New Roman" pitchFamily="18" charset="0"/>
              </a:rPr>
              <a:t>Project Associatives:</a:t>
            </a:r>
          </a:p>
          <a:p>
            <a:pPr>
              <a:buFont typeface="Wingdings 2"/>
              <a:buNone/>
            </a:pPr>
            <a:r>
              <a:rPr lang="en-US" sz="1800" dirty="0">
                <a:latin typeface="Times New Roman" pitchFamily="18" charset="0"/>
                <a:cs typeface="Times New Roman" pitchFamily="18" charset="0"/>
              </a:rPr>
              <a:t>B. SRIVALLIKA                     (18225A0402)</a:t>
            </a:r>
            <a:endParaRPr lang="zh-CN" altLang="en-US" sz="1800" dirty="0">
              <a:latin typeface="Times New Roman" pitchFamily="18" charset="0"/>
              <a:cs typeface="Times New Roman" pitchFamily="18" charset="0"/>
            </a:endParaRPr>
          </a:p>
          <a:p>
            <a:pPr>
              <a:buFont typeface="Wingdings 2"/>
              <a:buNone/>
            </a:pPr>
            <a:r>
              <a:rPr lang="en-IN" sz="1800" dirty="0">
                <a:latin typeface="Times New Roman" pitchFamily="18" charset="0"/>
                <a:cs typeface="Times New Roman" pitchFamily="18" charset="0"/>
              </a:rPr>
              <a:t>N.V.V.LAVANAYA                 (17221A0484)</a:t>
            </a:r>
          </a:p>
          <a:p>
            <a:pPr>
              <a:buFont typeface="Wingdings 2"/>
              <a:buNone/>
            </a:pPr>
            <a:r>
              <a:rPr lang="en-IN" sz="1800" dirty="0">
                <a:latin typeface="Times New Roman" pitchFamily="18" charset="0"/>
                <a:cs typeface="Times New Roman" pitchFamily="18" charset="0"/>
              </a:rPr>
              <a:t>Y.PAVAN MANIKANTA</a:t>
            </a:r>
            <a:r>
              <a:rPr lang="en-US" sz="1800" dirty="0">
                <a:latin typeface="Times New Roman" pitchFamily="18" charset="0"/>
                <a:cs typeface="Times New Roman" pitchFamily="18" charset="0"/>
              </a:rPr>
              <a:t>       (17221A04C3)</a:t>
            </a:r>
            <a:r>
              <a:rPr lang="en-IN" sz="1800" dirty="0">
                <a:latin typeface="Times New Roman" pitchFamily="18" charset="0"/>
                <a:cs typeface="Times New Roman" pitchFamily="18" charset="0"/>
              </a:rPr>
              <a:t>       </a:t>
            </a:r>
            <a:endParaRPr lang="zh-CN" altLang="en-US" sz="1800" dirty="0">
              <a:latin typeface="Times New Roman" pitchFamily="18" charset="0"/>
              <a:cs typeface="Times New Roman" pitchFamily="18" charset="0"/>
            </a:endParaRPr>
          </a:p>
          <a:p>
            <a:pPr>
              <a:buFont typeface="Wingdings 2"/>
              <a:buNone/>
            </a:pPr>
            <a:r>
              <a:rPr lang="en-IN" sz="1800" dirty="0">
                <a:latin typeface="Times New Roman" pitchFamily="18" charset="0"/>
                <a:cs typeface="Times New Roman" pitchFamily="18" charset="0"/>
              </a:rPr>
              <a:t>S.JAGADEESH KUMAR</a:t>
            </a:r>
            <a:r>
              <a:rPr lang="en-US" sz="1800" dirty="0">
                <a:latin typeface="Times New Roman" pitchFamily="18" charset="0"/>
                <a:cs typeface="Times New Roman" pitchFamily="18" charset="0"/>
              </a:rPr>
              <a:t>      (17221A04A4</a:t>
            </a:r>
            <a:r>
              <a:rPr lang="en-US" sz="2000" dirty="0">
                <a:latin typeface="Times New Roman" panose="02020603050405020304" pitchFamily="18" charset="0"/>
                <a:cs typeface="Times New Roman" panose="02020603050405020304" pitchFamily="18" charset="0"/>
              </a:rPr>
              <a:t>)</a:t>
            </a:r>
            <a:endParaRPr lang="zh-CN" altLang="en-US" dirty="0"/>
          </a:p>
          <a:p>
            <a:pPr>
              <a:buFont typeface="Wingdings 2"/>
              <a:buNone/>
            </a:pPr>
            <a:r>
              <a:rPr lang="en-IN" sz="2000" dirty="0">
                <a:latin typeface="Times New Roman" panose="02020603050405020304" pitchFamily="18" charset="0"/>
                <a:cs typeface="Times New Roman" panose="02020603050405020304" pitchFamily="18" charset="0"/>
              </a:rPr>
              <a:t>      </a:t>
            </a:r>
            <a:endParaRPr lang="zh-CN" altLang="en-US" dirty="0"/>
          </a:p>
        </p:txBody>
      </p:sp>
      <p:sp>
        <p:nvSpPr>
          <p:cNvPr id="1048591" name="Content Placeholder 4"/>
          <p:cNvSpPr txBox="1"/>
          <p:nvPr/>
        </p:nvSpPr>
        <p:spPr>
          <a:xfrm>
            <a:off x="1769876" y="4929776"/>
            <a:ext cx="4320480" cy="2027616"/>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2"/>
              <a:buNone/>
            </a:pPr>
            <a:r>
              <a:rPr lang="en-US" sz="1800" dirty="0">
                <a:latin typeface="Times New Roman" panose="02020603050405020304" pitchFamily="18" charset="0"/>
                <a:cs typeface="Times New Roman" panose="02020603050405020304" pitchFamily="18" charset="0"/>
              </a:rPr>
              <a:t>Project Guide:</a:t>
            </a:r>
          </a:p>
          <a:p>
            <a:pPr>
              <a:buNone/>
            </a:pPr>
            <a:r>
              <a:rPr lang="en-US" sz="1800" dirty="0">
                <a:latin typeface="Times New Roman" panose="02020603050405020304" pitchFamily="18" charset="0"/>
                <a:cs typeface="Times New Roman" panose="02020603050405020304" pitchFamily="18" charset="0"/>
              </a:rPr>
              <a:t>Ms.K HARIKA SAI DURGA,</a:t>
            </a:r>
          </a:p>
          <a:p>
            <a:pPr>
              <a:buNone/>
            </a:pPr>
            <a:r>
              <a:rPr lang="en-US" sz="1800" dirty="0">
                <a:latin typeface="Times New Roman" panose="02020603050405020304" pitchFamily="18" charset="0"/>
                <a:cs typeface="Times New Roman" panose="02020603050405020304" pitchFamily="18" charset="0"/>
              </a:rPr>
              <a:t>Assistant Professor </a:t>
            </a:r>
            <a:endParaRPr lang="zh-CN" altLang="en-US" sz="1800" dirty="0"/>
          </a:p>
        </p:txBody>
      </p:sp>
      <p:pic>
        <p:nvPicPr>
          <p:cNvPr id="2097152" name="Picture 2"/>
          <p:cNvPicPr>
            <a:picLocks noChangeAspect="1"/>
          </p:cNvPicPr>
          <p:nvPr/>
        </p:nvPicPr>
        <p:blipFill>
          <a:blip r:embed="rId3"/>
          <a:stretch>
            <a:fillRect/>
          </a:stretch>
        </p:blipFill>
        <p:spPr>
          <a:xfrm>
            <a:off x="5334557" y="1920240"/>
            <a:ext cx="1572416" cy="1502229"/>
          </a:xfrm>
          <a:prstGeom prst="rect">
            <a:avLst/>
          </a:prstGeom>
        </p:spPr>
      </p:pic>
      <p:sp>
        <p:nvSpPr>
          <p:cNvPr id="1048592" name="Title 1"/>
          <p:cNvSpPr txBox="1"/>
          <p:nvPr/>
        </p:nvSpPr>
        <p:spPr>
          <a:xfrm>
            <a:off x="1518356" y="3703422"/>
            <a:ext cx="9144000" cy="996157"/>
          </a:xfrm>
          <a:prstGeom prst="rect">
            <a:avLst/>
          </a:prstGeom>
        </p:spPr>
        <p:txBody>
          <a:bodyPr vert="horz" lIns="0" rIns="0" bIns="0" anchor="b">
            <a:normAutofit fontScale="96429" lnSpcReduction="2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en-US" sz="2800" i="1" dirty="0">
                <a:solidFill>
                  <a:schemeClr val="tx1"/>
                </a:solidFill>
                <a:latin typeface="Times New Roman" pitchFamily="18" charset="0"/>
                <a:cs typeface="Times New Roman" pitchFamily="18" charset="0"/>
              </a:rPr>
              <a:t>Bonam Venkata Chalamayya Engineering College Odalarevu</a:t>
            </a:r>
            <a:br>
              <a:rPr lang="en-US" sz="2800" i="1" dirty="0">
                <a:solidFill>
                  <a:schemeClr val="tx1"/>
                </a:solidFill>
                <a:latin typeface="Times New Roman" pitchFamily="18" charset="0"/>
                <a:cs typeface="Times New Roman" pitchFamily="18" charset="0"/>
              </a:rPr>
            </a:br>
            <a:r>
              <a:rPr lang="en-US" sz="2800" i="1" dirty="0">
                <a:solidFill>
                  <a:schemeClr val="tx1"/>
                </a:solidFill>
                <a:latin typeface="Times New Roman" pitchFamily="18" charset="0"/>
                <a:cs typeface="Times New Roman" pitchFamily="18" charset="0"/>
              </a:rPr>
              <a:t>(AUTONOMOUS)   </a:t>
            </a:r>
          </a:p>
        </p:txBody>
      </p:sp>
      <p:sp>
        <p:nvSpPr>
          <p:cNvPr id="1048593" name="TextBox 1048607"/>
          <p:cNvSpPr txBox="1"/>
          <p:nvPr/>
        </p:nvSpPr>
        <p:spPr>
          <a:xfrm>
            <a:off x="4096000" y="3219450"/>
            <a:ext cx="4000000" cy="510540"/>
          </a:xfrm>
          <a:prstGeom prst="rect">
            <a:avLst/>
          </a:prstGeom>
        </p:spPr>
        <p:txBody>
          <a:bodyPr wrap="square" rtlCol="0">
            <a:spAutoFit/>
          </a:bodyPr>
          <a:lstStyle/>
          <a:p>
            <a:endParaRPr lang="en-US"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609600" y="704088"/>
            <a:ext cx="10972800" cy="734095"/>
          </a:xfrm>
        </p:spPr>
        <p:txBody>
          <a:bodyPr>
            <a:normAutofit fontScale="90000"/>
          </a:bodyPr>
          <a:lstStyle/>
          <a:p>
            <a:pPr algn="ctr"/>
            <a:r>
              <a:rPr lang="en-US" sz="4800" b="1" dirty="0">
                <a:solidFill>
                  <a:schemeClr val="tx1"/>
                </a:solidFill>
                <a:latin typeface="Times New Roman" panose="02020603050405020304" pitchFamily="18" charset="0"/>
                <a:cs typeface="Times New Roman" panose="02020603050405020304" pitchFamily="18" charset="0"/>
              </a:rPr>
              <a:t>Contents</a:t>
            </a:r>
            <a:endParaRPr lang="en-IN" sz="4800" dirty="0">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sz="quarter" idx="1"/>
          </p:nvPr>
        </p:nvSpPr>
        <p:spPr>
          <a:xfrm>
            <a:off x="757646" y="1447800"/>
            <a:ext cx="10981508" cy="4572000"/>
          </a:xfrm>
        </p:spPr>
        <p:txBody>
          <a:bodyPr>
            <a:normAutofit fontScale="95455" lnSpcReduction="10000"/>
          </a:bodyPr>
          <a:lstStyle/>
          <a:p>
            <a:r>
              <a:rPr lang="en-US" sz="2200" dirty="0">
                <a:latin typeface="Times New Roman" pitchFamily="18" charset="0"/>
                <a:cs typeface="Times New Roman" pitchFamily="18" charset="0"/>
              </a:rPr>
              <a:t>Abstract                                                              </a:t>
            </a:r>
          </a:p>
          <a:p>
            <a:r>
              <a:rPr lang="en-US" sz="2200" dirty="0">
                <a:latin typeface="Times New Roman" pitchFamily="18" charset="0"/>
                <a:cs typeface="Times New Roman" pitchFamily="18" charset="0"/>
              </a:rPr>
              <a:t>Introduction</a:t>
            </a:r>
          </a:p>
          <a:p>
            <a:r>
              <a:rPr lang="en-US" sz="2200" dirty="0">
                <a:latin typeface="Times New Roman" pitchFamily="18" charset="0"/>
                <a:cs typeface="Times New Roman" pitchFamily="18" charset="0"/>
              </a:rPr>
              <a:t>What is IOT?</a:t>
            </a:r>
          </a:p>
          <a:p>
            <a:r>
              <a:rPr lang="en-US" sz="2200" dirty="0">
                <a:latin typeface="Times New Roman" pitchFamily="18" charset="0"/>
                <a:cs typeface="Times New Roman" pitchFamily="18" charset="0"/>
              </a:rPr>
              <a:t>Existing &amp; Proposed method</a:t>
            </a:r>
          </a:p>
          <a:p>
            <a:r>
              <a:rPr lang="en-US" sz="2200" dirty="0">
                <a:latin typeface="Times New Roman" pitchFamily="18" charset="0"/>
                <a:cs typeface="Times New Roman" pitchFamily="18" charset="0"/>
              </a:rPr>
              <a:t>Block diagram</a:t>
            </a:r>
            <a:endParaRPr lang="zh-CN" altLang="en-US" sz="2200" dirty="0">
              <a:latin typeface="Times New Roman" pitchFamily="18" charset="0"/>
              <a:cs typeface="Times New Roman" pitchFamily="18" charset="0"/>
            </a:endParaRPr>
          </a:p>
          <a:p>
            <a:r>
              <a:rPr lang="en-IN" altLang="zh-CN" sz="2200" dirty="0">
                <a:latin typeface="Times New Roman" pitchFamily="18" charset="0"/>
                <a:cs typeface="Times New Roman" pitchFamily="18" charset="0"/>
              </a:rPr>
              <a:t>Hardware implementation</a:t>
            </a:r>
            <a:endParaRPr lang="en-US" sz="2200" dirty="0">
              <a:latin typeface="Times New Roman" pitchFamily="18" charset="0"/>
              <a:cs typeface="Times New Roman" pitchFamily="18" charset="0"/>
            </a:endParaRPr>
          </a:p>
          <a:p>
            <a:r>
              <a:rPr lang="en-IN" sz="2200" dirty="0">
                <a:latin typeface="Times New Roman" pitchFamily="18" charset="0"/>
                <a:cs typeface="Times New Roman" pitchFamily="18" charset="0"/>
              </a:rPr>
              <a:t>Aurdino</a:t>
            </a:r>
          </a:p>
          <a:p>
            <a:r>
              <a:rPr lang="en-IN" altLang="zh-CN" sz="2200" dirty="0">
                <a:latin typeface="Times New Roman" pitchFamily="18" charset="0"/>
                <a:cs typeface="Times New Roman" pitchFamily="18" charset="0"/>
              </a:rPr>
              <a:t>NodeMCU</a:t>
            </a:r>
            <a:endParaRPr lang="zh-CN" alt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Software used</a:t>
            </a:r>
            <a:endParaRPr lang="zh-CN" alt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Advantages </a:t>
            </a:r>
            <a:r>
              <a:rPr lang="en-IN" sz="2200" dirty="0">
                <a:latin typeface="Times New Roman" pitchFamily="18" charset="0"/>
                <a:cs typeface="Times New Roman" pitchFamily="18" charset="0"/>
              </a:rPr>
              <a:t>&amp; </a:t>
            </a:r>
            <a:r>
              <a:rPr lang="en-US" sz="2200" dirty="0">
                <a:latin typeface="Times New Roman" pitchFamily="18" charset="0"/>
                <a:cs typeface="Times New Roman" pitchFamily="18" charset="0"/>
              </a:rPr>
              <a:t>Applications</a:t>
            </a:r>
            <a:endParaRPr lang="en-US" sz="2200" dirty="0">
              <a:effectLst/>
              <a:latin typeface="Times New Roman" pitchFamily="18" charset="0"/>
              <a:ea typeface="Times New Roman" panose="02020603050405020304" pitchFamily="18" charset="0"/>
              <a:cs typeface="Times New Roman" pitchFamily="18" charset="0"/>
            </a:endParaRPr>
          </a:p>
          <a:p>
            <a:r>
              <a:rPr lang="en-US" sz="2200" dirty="0">
                <a:latin typeface="Times New Roman" pitchFamily="18" charset="0"/>
                <a:cs typeface="Times New Roman" pitchFamily="18" charset="0"/>
              </a:rPr>
              <a:t>Conclusion </a:t>
            </a:r>
          </a:p>
          <a:p>
            <a:r>
              <a:rPr lang="en-US" sz="2200" dirty="0">
                <a:latin typeface="Times New Roman" pitchFamily="18" charset="0"/>
                <a:ea typeface="Times New Roman" panose="02020603050405020304" pitchFamily="18" charset="0"/>
                <a:cs typeface="Times New Roman" pitchFamily="18" charset="0"/>
              </a:rPr>
              <a:t>Future scope</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dirty="0">
                <a:effectLst/>
                <a:latin typeface="Times New Roman" pitchFamily="18" charset="0"/>
                <a:ea typeface="Times New Roman" panose="02020603050405020304" pitchFamily="18" charset="0"/>
                <a:cs typeface="Times New Roman" pitchFamily="18" charset="0"/>
              </a:rPr>
              <a:t>References</a:t>
            </a:r>
            <a:endParaRPr lang="en-US" sz="2200" dirty="0">
              <a:latin typeface="Times New Roman" pitchFamily="18" charset="0"/>
              <a:cs typeface="Times New Roman"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p:txBody>
          <a:bodyPr>
            <a:normAutofit/>
          </a:bodyPr>
          <a:lstStyle/>
          <a:p>
            <a:pPr algn="ctr"/>
            <a:r>
              <a:rPr lang="en-IN" sz="4800" b="1" dirty="0">
                <a:solidFill>
                  <a:schemeClr val="tx1"/>
                </a:solidFill>
                <a:latin typeface="Times New Roman" pitchFamily="18" charset="0"/>
                <a:cs typeface="Times New Roman" pitchFamily="18" charset="0"/>
              </a:rPr>
              <a:t>Abstract</a:t>
            </a:r>
            <a:endParaRPr lang="en-US" sz="4800" b="1" dirty="0">
              <a:solidFill>
                <a:schemeClr val="tx1"/>
              </a:solidFill>
              <a:latin typeface="Times New Roman" pitchFamily="18" charset="0"/>
              <a:cs typeface="Times New Roman" pitchFamily="18" charset="0"/>
            </a:endParaRPr>
          </a:p>
        </p:txBody>
      </p:sp>
      <p:sp>
        <p:nvSpPr>
          <p:cNvPr id="1048597" name="Content Placeholder 2"/>
          <p:cNvSpPr>
            <a:spLocks noGrp="1"/>
          </p:cNvSpPr>
          <p:nvPr>
            <p:ph sz="quarter" idx="1"/>
          </p:nvPr>
        </p:nvSpPr>
        <p:spPr>
          <a:xfrm>
            <a:off x="261257" y="1447800"/>
            <a:ext cx="11321143" cy="4572000"/>
          </a:xfrm>
        </p:spPr>
        <p:txBody>
          <a:bodyPr spcCol="72000">
            <a:noAutofit/>
          </a:bodyPr>
          <a:lstStyle/>
          <a:p>
            <a:pPr indent="457200" algn="just">
              <a:lnSpc>
                <a:spcPct val="150000"/>
              </a:lnSpc>
              <a:spcAft>
                <a:spcPts val="600"/>
              </a:spcAft>
              <a:buNone/>
            </a:pPr>
            <a:r>
              <a:rPr lang="en-GB" sz="2000" dirty="0">
                <a:effectLst/>
                <a:latin typeface="Times New Roman" panose="02020603050405020304" pitchFamily="18" charset="0"/>
                <a:ea typeface="Calibri" panose="020F0502020204030204" pitchFamily="34" charset="0"/>
                <a:cs typeface="Arial" panose="020B0604020202020204" pitchFamily="34" charset="0"/>
              </a:rPr>
              <a:t>In this project, we have presented an IoT enabled approach that can provide emergency communication and location tracking services in a remote car that meets an unfortunate accident or any other emergency situation. </a:t>
            </a:r>
            <a:r>
              <a:rPr lang="en-GB" sz="2000" dirty="0">
                <a:latin typeface="Times New Roman" panose="02020603050405020304" pitchFamily="18" charset="0"/>
                <a:ea typeface="Calibri" panose="020F0502020204030204" pitchFamily="34" charset="0"/>
                <a:cs typeface="Arial" panose="020B0604020202020204" pitchFamily="34" charset="0"/>
              </a:rPr>
              <a:t>Immediately after  an accident or emergency, the system either starts or may be triggered manually. Depending upon type of emergency it initiates communication and shares critical information e.g., location information, a set of relevant images taken from prefixed angles etc. With appropriate  server/authority.</a:t>
            </a:r>
            <a:endParaRPr lang="en-IN" sz="2000" dirty="0">
              <a:effectLst/>
              <a:latin typeface="Calibri" panose="020F0502020204030204" pitchFamily="34" charset="0"/>
              <a:ea typeface="Yu Mincho" panose="02020400000000000000" pitchFamily="18" charset="-128"/>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609600" y="561703"/>
            <a:ext cx="10972800" cy="836023"/>
          </a:xfrm>
        </p:spPr>
        <p:txBody>
          <a:bodyPr>
            <a:noAutofit/>
          </a:bodyPr>
          <a:lstStyle/>
          <a:p>
            <a:pPr algn="ctr"/>
            <a:r>
              <a:rPr lang="en-IN" sz="4800" b="1" dirty="0">
                <a:solidFill>
                  <a:schemeClr val="tx1"/>
                </a:solidFill>
                <a:latin typeface="Times New Roman" pitchFamily="18" charset="0"/>
                <a:cs typeface="Times New Roman" pitchFamily="18" charset="0"/>
              </a:rPr>
              <a:t>Introduction</a:t>
            </a:r>
          </a:p>
        </p:txBody>
      </p:sp>
      <p:sp>
        <p:nvSpPr>
          <p:cNvPr id="1048599" name="Content Placeholder 2"/>
          <p:cNvSpPr>
            <a:spLocks noGrp="1"/>
          </p:cNvSpPr>
          <p:nvPr>
            <p:ph sz="quarter" idx="1"/>
          </p:nvPr>
        </p:nvSpPr>
        <p:spPr>
          <a:xfrm>
            <a:off x="207493" y="1410789"/>
            <a:ext cx="10972800" cy="4913811"/>
          </a:xfrm>
        </p:spPr>
        <p:txBody>
          <a:bodyPr>
            <a:normAutofit/>
          </a:bodyPr>
          <a:lstStyle/>
          <a:p>
            <a:pPr indent="457200" algn="just">
              <a:lnSpc>
                <a:spcPct val="150000"/>
              </a:lnSpc>
              <a:spcAft>
                <a:spcPts val="600"/>
              </a:spcAft>
              <a:buNone/>
            </a:pPr>
            <a:r>
              <a:rPr lang="en-GB" sz="2000" dirty="0">
                <a:effectLst/>
                <a:latin typeface="Times New Roman" pitchFamily="18" charset="0"/>
                <a:ea typeface="Calibri" panose="020F0502020204030204" pitchFamily="34" charset="0"/>
                <a:cs typeface="Times New Roman" pitchFamily="18" charset="0"/>
              </a:rPr>
              <a:t>In a smart city every device or better to say every ‘thing’ is connected 24 × 7 to the Ubiquitous network. </a:t>
            </a:r>
            <a:r>
              <a:rPr lang="en-GB" sz="2000" dirty="0">
                <a:latin typeface="Times New Roman" pitchFamily="18" charset="0"/>
                <a:ea typeface="Calibri" panose="020F0502020204030204" pitchFamily="34" charset="0"/>
                <a:cs typeface="Times New Roman" pitchFamily="18" charset="0"/>
              </a:rPr>
              <a:t>Right now, we are living in the era of Internet and rapidly moving towards a smart planet where every device will be connected to each other. Internet of Things is the technology helping us to achieve the goal of a smart world. and Cyber Physical system have the ability to change the vision of our way of living. All developing countries are aiming to transform their cities into Smart City by taking several projects. For example, the government of India has taken an initiative called Digital India to connect the nation to Internet. A. Necessity of Vehicular Emergency Communication System in Smart City Perspective </a:t>
            </a:r>
            <a:endParaRPr lang="en-IN" sz="2000" dirty="0">
              <a:effectLst/>
              <a:latin typeface="Times New Roman" pitchFamily="18" charset="0"/>
              <a:ea typeface="Yu Mincho" panose="02020400000000000000" pitchFamily="18" charset="-128"/>
              <a:cs typeface="Times New Roman" pitchFamily="18" charset="0"/>
            </a:endParaRPr>
          </a:p>
          <a:p>
            <a:pPr marL="0" indent="0">
              <a:buNone/>
            </a:pPr>
            <a:endParaRPr lang="en-I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normAutofit/>
          </a:bodyPr>
          <a:lstStyle/>
          <a:p>
            <a:r>
              <a:rPr lang="en-US" sz="4800" b="1" dirty="0">
                <a:solidFill>
                  <a:schemeClr val="tx1"/>
                </a:solidFill>
                <a:latin typeface="Times New Roman" pitchFamily="18" charset="0"/>
                <a:cs typeface="Times New Roman" pitchFamily="18" charset="0"/>
              </a:rPr>
              <a:t>What is IOT?</a:t>
            </a:r>
            <a:endParaRPr lang="en-IN" sz="4800" b="1" dirty="0">
              <a:solidFill>
                <a:schemeClr val="tx1"/>
              </a:solidFill>
              <a:latin typeface="Times New Roman" pitchFamily="18" charset="0"/>
              <a:cs typeface="Times New Roman" pitchFamily="18" charset="0"/>
            </a:endParaRPr>
          </a:p>
        </p:txBody>
      </p:sp>
      <p:sp>
        <p:nvSpPr>
          <p:cNvPr id="1048601" name="Content Placeholder 2"/>
          <p:cNvSpPr>
            <a:spLocks noGrp="1"/>
          </p:cNvSpPr>
          <p:nvPr>
            <p:ph sz="quarter" idx="1"/>
          </p:nvPr>
        </p:nvSpPr>
        <p:spPr>
          <a:xfrm>
            <a:off x="574766" y="1447800"/>
            <a:ext cx="11007634" cy="4572000"/>
          </a:xfrm>
        </p:spPr>
        <p:txBody>
          <a:bodyPr>
            <a:normAutofit/>
          </a:bodyPr>
          <a:lstStyle/>
          <a:p>
            <a:pPr>
              <a:buFont typeface="Wingdings 2" pitchFamily="18" charset="2"/>
              <a:buChar char=""/>
            </a:pPr>
            <a:r>
              <a:rPr lang="en-US" sz="2400" dirty="0"/>
              <a:t>IOT is short for Internet of things</a:t>
            </a:r>
          </a:p>
          <a:p>
            <a:pPr>
              <a:buFont typeface="Wingdings 2" pitchFamily="18" charset="2"/>
              <a:buChar char=""/>
            </a:pPr>
            <a:r>
              <a:rPr lang="en-US" sz="2400" dirty="0"/>
              <a:t>The internet of things(IOT) is inter – networking </a:t>
            </a:r>
          </a:p>
          <a:p>
            <a:pPr marL="0" indent="0">
              <a:buClr>
                <a:schemeClr val="tx1"/>
              </a:buClr>
              <a:buNone/>
            </a:pPr>
            <a:r>
              <a:rPr lang="en-US" sz="2400" dirty="0"/>
              <a:t>    of physical devices. This systems has ability to </a:t>
            </a:r>
          </a:p>
          <a:p>
            <a:pPr marL="0" indent="0">
              <a:buClr>
                <a:schemeClr val="tx1"/>
              </a:buClr>
              <a:buNone/>
            </a:pPr>
            <a:r>
              <a:rPr lang="en-US" sz="2400" dirty="0"/>
              <a:t>    transfer data over a network without requiring</a:t>
            </a:r>
          </a:p>
          <a:p>
            <a:pPr marL="0" indent="0">
              <a:buClr>
                <a:schemeClr val="tx1"/>
              </a:buClr>
              <a:buNone/>
            </a:pPr>
            <a:r>
              <a:rPr lang="en-US" sz="2400" dirty="0"/>
              <a:t>    human- to- human or human to computer</a:t>
            </a:r>
          </a:p>
          <a:p>
            <a:pPr marL="0" indent="0">
              <a:buClr>
                <a:schemeClr val="tx1"/>
              </a:buClr>
              <a:buNone/>
            </a:pPr>
            <a:r>
              <a:rPr lang="en-US" sz="2400" dirty="0"/>
              <a:t>    interaction.</a:t>
            </a:r>
            <a:endParaRPr lang="en-IN" sz="2400" dirty="0"/>
          </a:p>
        </p:txBody>
      </p:sp>
      <p:pic>
        <p:nvPicPr>
          <p:cNvPr id="2097153" name="Picture 5"/>
          <p:cNvPicPr>
            <a:picLocks noChangeAspect="1"/>
          </p:cNvPicPr>
          <p:nvPr/>
        </p:nvPicPr>
        <p:blipFill>
          <a:blip r:embed="rId2"/>
          <a:stretch>
            <a:fillRect/>
          </a:stretch>
        </p:blipFill>
        <p:spPr>
          <a:xfrm>
            <a:off x="7601234" y="1282318"/>
            <a:ext cx="4115485" cy="37279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048623"/>
          <p:cNvSpPr>
            <a:spLocks noGrp="1"/>
          </p:cNvSpPr>
          <p:nvPr>
            <p:ph type="title"/>
          </p:nvPr>
        </p:nvSpPr>
        <p:spPr/>
        <p:txBody>
          <a:bodyPr>
            <a:normAutofit/>
          </a:bodyPr>
          <a:lstStyle/>
          <a:p>
            <a:r>
              <a:rPr lang="en-US" sz="4800" b="1" dirty="0">
                <a:solidFill>
                  <a:schemeClr val="tx1"/>
                </a:solidFill>
                <a:latin typeface="Times New Roman" pitchFamily="18" charset="0"/>
                <a:cs typeface="Times New Roman" pitchFamily="18" charset="0"/>
              </a:rPr>
              <a:t>         Existing &amp; Proposed method</a:t>
            </a:r>
          </a:p>
        </p:txBody>
      </p:sp>
      <p:sp>
        <p:nvSpPr>
          <p:cNvPr id="1048603" name="Content Placeholder 1048624"/>
          <p:cNvSpPr>
            <a:spLocks noGrp="1"/>
          </p:cNvSpPr>
          <p:nvPr>
            <p:ph sz="quarter" idx="1"/>
          </p:nvPr>
        </p:nvSpPr>
        <p:spPr>
          <a:xfrm>
            <a:off x="248195" y="1408611"/>
            <a:ext cx="11412583" cy="4572000"/>
          </a:xfrm>
        </p:spPr>
        <p:txBody>
          <a:bodyPr/>
          <a:lstStyle/>
          <a:p>
            <a:pPr algn="just">
              <a:buNone/>
            </a:pPr>
            <a:r>
              <a:rPr lang="en-US" sz="2400" b="1" dirty="0">
                <a:latin typeface="Times New Roman" pitchFamily="18" charset="0"/>
                <a:cs typeface="Times New Roman" pitchFamily="18" charset="0"/>
              </a:rPr>
              <a:t>	Existing method:</a:t>
            </a:r>
          </a:p>
          <a:p>
            <a:pPr algn="just">
              <a:buNone/>
            </a:pPr>
            <a:r>
              <a:rPr lang="en-IN" dirty="0">
                <a:latin typeface="Times New Roman" pitchFamily="18" charset="0"/>
                <a:cs typeface="Times New Roman" pitchFamily="18" charset="0"/>
              </a:rPr>
              <a:t>		</a:t>
            </a:r>
            <a:r>
              <a:rPr lang="en-IN" sz="2000" dirty="0">
                <a:latin typeface="Times New Roman" pitchFamily="18" charset="0"/>
                <a:cs typeface="Times New Roman" pitchFamily="18" charset="0"/>
              </a:rPr>
              <a:t>In Existing method it will not provide GPS location and sending images to control room. It only sends SMS to family member or guardians mobile number.</a:t>
            </a:r>
            <a:endParaRPr lang="en-US" sz="2000" dirty="0">
              <a:latin typeface="Times New Roman" pitchFamily="18" charset="0"/>
              <a:cs typeface="Times New Roman" pitchFamily="18" charset="0"/>
            </a:endParaRPr>
          </a:p>
          <a:p>
            <a:pPr algn="just">
              <a:buNone/>
            </a:pPr>
            <a:r>
              <a:rPr lang="en-US" sz="2400" b="1" dirty="0">
                <a:latin typeface="Times New Roman" pitchFamily="18" charset="0"/>
                <a:cs typeface="Times New Roman" pitchFamily="18" charset="0"/>
              </a:rPr>
              <a:t>	Proposed method:</a:t>
            </a:r>
          </a:p>
          <a:p>
            <a:pPr algn="just">
              <a:buNone/>
            </a:pPr>
            <a:r>
              <a:rPr lang="en-US" dirty="0"/>
              <a:t>		</a:t>
            </a:r>
            <a:r>
              <a:rPr lang="en-US" sz="2000" dirty="0">
                <a:latin typeface="Times New Roman" pitchFamily="18" charset="0"/>
                <a:cs typeface="Times New Roman" pitchFamily="18" charset="0"/>
              </a:rPr>
              <a:t>In proposed system</a:t>
            </a:r>
            <a:r>
              <a:rPr lang="en-GB" sz="2000" dirty="0">
                <a:latin typeface="Times New Roman" panose="02020603050405020304" pitchFamily="18" charset="0"/>
                <a:ea typeface="Calibri" panose="020F0502020204030204" pitchFamily="34" charset="0"/>
                <a:cs typeface="Arial" panose="020B0604020202020204" pitchFamily="34" charset="0"/>
              </a:rPr>
              <a:t> depending upon type of emergency it initiates communication and shares critical information e.g., location information, a set of relevant images taken from prefixed angles etc. With appropriate  server/authority</a:t>
            </a:r>
            <a:r>
              <a:rPr lang="en-US" sz="2000" dirty="0">
                <a:latin typeface="Times New Roman" pitchFamily="18" charset="0"/>
                <a:cs typeface="Times New Roman" pitchFamily="18" charset="0"/>
              </a:rPr>
              <a:t>. We have divided vehicular emergencies into five different types accordingly to their characteristics. The details of each parts discussed in following sections.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048688"/>
          <p:cNvSpPr>
            <a:spLocks noGrp="1"/>
          </p:cNvSpPr>
          <p:nvPr>
            <p:ph type="title"/>
          </p:nvPr>
        </p:nvSpPr>
        <p:spPr/>
        <p:txBody>
          <a:bodyPr>
            <a:normAutofit fontScale="90000"/>
          </a:bodyPr>
          <a:lstStyle/>
          <a:p>
            <a:r>
              <a:rPr lang="en-US" b="1" dirty="0">
                <a:solidFill>
                  <a:schemeClr val="tx1"/>
                </a:solidFill>
                <a:latin typeface="Times New Roman" pitchFamily="18" charset="0"/>
                <a:cs typeface="Times New Roman" pitchFamily="18" charset="0"/>
              </a:rPr>
              <a:t>Architectural diagram of the proposed system</a:t>
            </a:r>
          </a:p>
        </p:txBody>
      </p:sp>
      <p:pic>
        <p:nvPicPr>
          <p:cNvPr id="2097154" name="Picture 2097156"/>
          <p:cNvPicPr>
            <a:picLocks/>
          </p:cNvPicPr>
          <p:nvPr/>
        </p:nvPicPr>
        <p:blipFill>
          <a:blip r:embed="rId2"/>
          <a:stretch>
            <a:fillRect/>
          </a:stretch>
        </p:blipFill>
        <p:spPr>
          <a:xfrm>
            <a:off x="1933303" y="1737360"/>
            <a:ext cx="8608423" cy="47395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048689"/>
          <p:cNvSpPr>
            <a:spLocks noGrp="1"/>
          </p:cNvSpPr>
          <p:nvPr>
            <p:ph type="title"/>
          </p:nvPr>
        </p:nvSpPr>
        <p:spPr/>
        <p:txBody>
          <a:bodyPr>
            <a:normAutofit/>
          </a:bodyPr>
          <a:lstStyle/>
          <a:p>
            <a:r>
              <a:rPr lang="en-US" sz="4800" b="1" dirty="0">
                <a:solidFill>
                  <a:schemeClr val="tx1"/>
                </a:solidFill>
                <a:latin typeface="Times New Roman" pitchFamily="18" charset="0"/>
                <a:cs typeface="Times New Roman" pitchFamily="18" charset="0"/>
              </a:rPr>
              <a:t>                       Explanation</a:t>
            </a:r>
          </a:p>
        </p:txBody>
      </p:sp>
      <p:sp>
        <p:nvSpPr>
          <p:cNvPr id="1048610" name="Content Placeholder 1048690"/>
          <p:cNvSpPr>
            <a:spLocks noGrp="1"/>
          </p:cNvSpPr>
          <p:nvPr>
            <p:ph sz="quarter" idx="1"/>
          </p:nvPr>
        </p:nvSpPr>
        <p:spPr/>
        <p:txBody>
          <a:bodyPr>
            <a:normAutofit/>
          </a:bodyPr>
          <a:lstStyle/>
          <a:p>
            <a:r>
              <a:rPr lang="en-US" sz="2000" dirty="0">
                <a:latin typeface="Times New Roman" pitchFamily="18" charset="0"/>
                <a:cs typeface="Times New Roman" pitchFamily="18" charset="0"/>
              </a:rPr>
              <a:t>Type-1(Accident): This is the most important emergency type for a vehicle on road.</a:t>
            </a:r>
          </a:p>
          <a:p>
            <a:r>
              <a:rPr lang="en-US" sz="2000" dirty="0">
                <a:latin typeface="Times New Roman" pitchFamily="18" charset="0"/>
                <a:cs typeface="Times New Roman" pitchFamily="18" charset="0"/>
              </a:rPr>
              <a:t>Type-2 (Medical): Sometime it happens that a passenger or the driver of a car suddenly becomes sick </a:t>
            </a:r>
          </a:p>
          <a:p>
            <a:r>
              <a:rPr lang="en-US" sz="2000" dirty="0">
                <a:latin typeface="Times New Roman" pitchFamily="18" charset="0"/>
                <a:cs typeface="Times New Roman" pitchFamily="18" charset="0"/>
              </a:rPr>
              <a:t>Type-3 (Criminal): If a car meets some criminal issue, they can also contact the control room.</a:t>
            </a:r>
          </a:p>
          <a:p>
            <a:r>
              <a:rPr lang="en-US" sz="2000" dirty="0">
                <a:latin typeface="Times New Roman" pitchFamily="18" charset="0"/>
                <a:cs typeface="Times New Roman" pitchFamily="18" charset="0"/>
              </a:rPr>
              <a:t>Type-4 (Civil): If there is any natural calamity, and the road is blocked by some barrier.</a:t>
            </a:r>
          </a:p>
          <a:p>
            <a:r>
              <a:rPr lang="en-US" sz="2000" dirty="0">
                <a:latin typeface="Times New Roman" pitchFamily="18" charset="0"/>
                <a:cs typeface="Times New Roman" pitchFamily="18" charset="0"/>
              </a:rPr>
              <a:t>Type-5 (Mechanical): If a vehicle meets some mechanical problems, nearest car workshop is informed.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7"/>
          <p:cNvSpPr>
            <a:spLocks noGrp="1"/>
          </p:cNvSpPr>
          <p:nvPr>
            <p:ph type="title"/>
          </p:nvPr>
        </p:nvSpPr>
        <p:spPr>
          <a:xfrm>
            <a:off x="1219200" y="274638"/>
            <a:ext cx="10363200" cy="1475786"/>
          </a:xfrm>
        </p:spPr>
        <p:txBody>
          <a:bodyPr>
            <a:normAutofit/>
          </a:bodyPr>
          <a:lstStyle/>
          <a:p>
            <a:r>
              <a:rPr lang="en-IN" sz="4800" b="1" dirty="0">
                <a:solidFill>
                  <a:schemeClr val="tx1"/>
                </a:solidFill>
                <a:latin typeface="Times New Roman" pitchFamily="18" charset="0"/>
                <a:cs typeface="Times New Roman" pitchFamily="18" charset="0"/>
              </a:rPr>
              <a:t>                   Block Diagram</a:t>
            </a:r>
            <a:endParaRPr lang="en-US" sz="4800" b="1" dirty="0">
              <a:solidFill>
                <a:schemeClr val="tx1"/>
              </a:solidFill>
              <a:latin typeface="Times New Roman" pitchFamily="18" charset="0"/>
              <a:cs typeface="Times New Roman" pitchFamily="18" charset="0"/>
            </a:endParaRPr>
          </a:p>
        </p:txBody>
      </p:sp>
      <p:sp>
        <p:nvSpPr>
          <p:cNvPr id="1048612" name="Content Placeholder 9"/>
          <p:cNvSpPr>
            <a:spLocks noGrp="1"/>
          </p:cNvSpPr>
          <p:nvPr>
            <p:ph sz="quarter" idx="1"/>
          </p:nvPr>
        </p:nvSpPr>
        <p:spPr>
          <a:xfrm>
            <a:off x="1419497" y="1998618"/>
            <a:ext cx="8116389" cy="37751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buNone/>
            </a:pPr>
            <a:r>
              <a:rPr lang="en-IN" sz="2800" dirty="0">
                <a:latin typeface="Times New Roman" pitchFamily="18" charset="0"/>
                <a:cs typeface="Times New Roman" pitchFamily="18" charset="0"/>
              </a:rPr>
              <a:t> </a:t>
            </a:r>
          </a:p>
        </p:txBody>
      </p:sp>
      <p:sp>
        <p:nvSpPr>
          <p:cNvPr id="1048613" name="Rectangle 10"/>
          <p:cNvSpPr/>
          <p:nvPr/>
        </p:nvSpPr>
        <p:spPr>
          <a:xfrm>
            <a:off x="3657599" y="3004457"/>
            <a:ext cx="1123407" cy="216843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itchFamily="18" charset="0"/>
                <a:cs typeface="Times New Roman" pitchFamily="18" charset="0"/>
              </a:rPr>
              <a:t>Aurdino</a:t>
            </a:r>
            <a:endParaRPr lang="en-US" dirty="0"/>
          </a:p>
        </p:txBody>
      </p:sp>
      <p:cxnSp>
        <p:nvCxnSpPr>
          <p:cNvPr id="3145728" name="Straight Arrow Connector 13"/>
          <p:cNvCxnSpPr>
            <a:cxnSpLocks/>
          </p:cNvCxnSpPr>
          <p:nvPr/>
        </p:nvCxnSpPr>
        <p:spPr>
          <a:xfrm>
            <a:off x="4767943" y="3278777"/>
            <a:ext cx="95358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14" name="Rectangle 15"/>
          <p:cNvSpPr/>
          <p:nvPr/>
        </p:nvSpPr>
        <p:spPr>
          <a:xfrm>
            <a:off x="5695406" y="2717074"/>
            <a:ext cx="1188720" cy="12148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L298N Motor Driver</a:t>
            </a:r>
            <a:endParaRPr lang="en-US" dirty="0"/>
          </a:p>
        </p:txBody>
      </p:sp>
      <p:cxnSp>
        <p:nvCxnSpPr>
          <p:cNvPr id="3145729" name="Straight Arrow Connector 17"/>
          <p:cNvCxnSpPr>
            <a:cxnSpLocks/>
            <a:stCxn id="1048614" idx="3"/>
            <a:endCxn id="1048615" idx="1"/>
          </p:cNvCxnSpPr>
          <p:nvPr/>
        </p:nvCxnSpPr>
        <p:spPr>
          <a:xfrm flipV="1">
            <a:off x="6884126" y="3304903"/>
            <a:ext cx="836023" cy="195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15" name="Rectangle 18"/>
          <p:cNvSpPr/>
          <p:nvPr/>
        </p:nvSpPr>
        <p:spPr>
          <a:xfrm>
            <a:off x="7720149" y="2690949"/>
            <a:ext cx="992777" cy="122790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Motors</a:t>
            </a:r>
            <a:endParaRPr lang="en-US" dirty="0"/>
          </a:p>
        </p:txBody>
      </p:sp>
      <p:cxnSp>
        <p:nvCxnSpPr>
          <p:cNvPr id="3145730" name="Straight Arrow Connector 20"/>
          <p:cNvCxnSpPr>
            <a:cxnSpLocks/>
          </p:cNvCxnSpPr>
          <p:nvPr/>
        </p:nvCxnSpPr>
        <p:spPr>
          <a:xfrm>
            <a:off x="4767943" y="4833257"/>
            <a:ext cx="979714" cy="130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16" name="Cloud 21"/>
          <p:cNvSpPr/>
          <p:nvPr/>
        </p:nvSpPr>
        <p:spPr>
          <a:xfrm flipH="1">
            <a:off x="5767241" y="4467496"/>
            <a:ext cx="1378141" cy="809897"/>
          </a:xfrm>
          <a:prstGeom prst="cloud">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cloud</a:t>
            </a:r>
            <a:endParaRPr lang="en-US" dirty="0"/>
          </a:p>
        </p:txBody>
      </p:sp>
      <p:cxnSp>
        <p:nvCxnSpPr>
          <p:cNvPr id="3145731" name="Straight Arrow Connector 23"/>
          <p:cNvCxnSpPr>
            <a:cxnSpLocks/>
            <a:stCxn id="1048616" idx="2"/>
            <a:endCxn id="1048617" idx="1"/>
          </p:cNvCxnSpPr>
          <p:nvPr/>
        </p:nvCxnSpPr>
        <p:spPr>
          <a:xfrm flipV="1">
            <a:off x="7141107" y="4865915"/>
            <a:ext cx="565979" cy="65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17" name="Rectangle 24"/>
          <p:cNvSpPr/>
          <p:nvPr/>
        </p:nvSpPr>
        <p:spPr>
          <a:xfrm>
            <a:off x="7707086" y="4297680"/>
            <a:ext cx="1306285" cy="11364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Blynk mobile application</a:t>
            </a:r>
            <a:endParaRPr lang="en-US" dirty="0"/>
          </a:p>
        </p:txBody>
      </p:sp>
      <p:cxnSp>
        <p:nvCxnSpPr>
          <p:cNvPr id="3145732" name="Straight Arrow Connector 26"/>
          <p:cNvCxnSpPr>
            <a:cxnSpLocks/>
            <a:stCxn id="1048618" idx="3"/>
          </p:cNvCxnSpPr>
          <p:nvPr/>
        </p:nvCxnSpPr>
        <p:spPr>
          <a:xfrm>
            <a:off x="2899953" y="3389811"/>
            <a:ext cx="796836" cy="195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18" name="Rectangle 27"/>
          <p:cNvSpPr/>
          <p:nvPr/>
        </p:nvSpPr>
        <p:spPr>
          <a:xfrm>
            <a:off x="1619793" y="2978331"/>
            <a:ext cx="1280160" cy="82296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GPS Module</a:t>
            </a:r>
            <a:endParaRPr lang="en-US" dirty="0"/>
          </a:p>
        </p:txBody>
      </p:sp>
      <p:sp>
        <p:nvSpPr>
          <p:cNvPr id="1048619" name="Rectangle 34"/>
          <p:cNvSpPr/>
          <p:nvPr/>
        </p:nvSpPr>
        <p:spPr>
          <a:xfrm>
            <a:off x="1632857" y="4140926"/>
            <a:ext cx="1306286" cy="80989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Blynk sensor</a:t>
            </a:r>
            <a:endParaRPr lang="en-US" dirty="0"/>
          </a:p>
        </p:txBody>
      </p:sp>
      <p:cxnSp>
        <p:nvCxnSpPr>
          <p:cNvPr id="3145733" name="Straight Arrow Connector 19"/>
          <p:cNvCxnSpPr>
            <a:cxnSpLocks/>
          </p:cNvCxnSpPr>
          <p:nvPr/>
        </p:nvCxnSpPr>
        <p:spPr>
          <a:xfrm rot="10800000" flipH="1">
            <a:off x="2972636" y="4647825"/>
            <a:ext cx="684961" cy="1769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itle 1"/>
          <p:cNvSpPr>
            <a:spLocks noGrp="1"/>
          </p:cNvSpPr>
          <p:nvPr>
            <p:ph type="title"/>
          </p:nvPr>
        </p:nvSpPr>
        <p:spPr>
          <a:xfrm>
            <a:off x="609600" y="704088"/>
            <a:ext cx="10972800" cy="802812"/>
          </a:xfrm>
        </p:spPr>
        <p:txBody>
          <a:bodyPr>
            <a:normAutofit fontScale="90000"/>
          </a:bodyPr>
          <a:lstStyle/>
          <a:p>
            <a:pPr algn="ctr"/>
            <a:r>
              <a:rPr lang="en-IN" sz="4800" b="1" dirty="0">
                <a:solidFill>
                  <a:schemeClr val="tx1"/>
                </a:solidFill>
                <a:latin typeface="Times New Roman" pitchFamily="18" charset="0"/>
                <a:cs typeface="Times New Roman" pitchFamily="18" charset="0"/>
              </a:rPr>
              <a:t>H</a:t>
            </a:r>
            <a:r>
              <a:rPr lang="en-IN" sz="4900" b="1" dirty="0">
                <a:solidFill>
                  <a:schemeClr val="tx1"/>
                </a:solidFill>
                <a:latin typeface="Times New Roman" pitchFamily="18" charset="0"/>
                <a:cs typeface="Times New Roman" pitchFamily="18" charset="0"/>
              </a:rPr>
              <a:t>ardware</a:t>
            </a:r>
            <a:r>
              <a:rPr lang="en-IN" sz="4800" b="1" dirty="0">
                <a:solidFill>
                  <a:schemeClr val="tx1"/>
                </a:solidFill>
                <a:latin typeface="Times New Roman" pitchFamily="18" charset="0"/>
                <a:cs typeface="Times New Roman" pitchFamily="18" charset="0"/>
              </a:rPr>
              <a:t> Implementation</a:t>
            </a:r>
          </a:p>
        </p:txBody>
      </p:sp>
      <p:sp>
        <p:nvSpPr>
          <p:cNvPr id="1048621" name="Content Placeholder 22"/>
          <p:cNvSpPr>
            <a:spLocks noGrp="1"/>
          </p:cNvSpPr>
          <p:nvPr>
            <p:ph sz="quarter" idx="1"/>
          </p:nvPr>
        </p:nvSpPr>
        <p:spPr>
          <a:xfrm>
            <a:off x="609600" y="1580226"/>
            <a:ext cx="10972800" cy="4744374"/>
          </a:xfrm>
        </p:spPr>
        <p:txBody>
          <a:bodyPr/>
          <a:lstStyle/>
          <a:p>
            <a:r>
              <a:rPr lang="en-IN" sz="2400" dirty="0">
                <a:latin typeface="Times New Roman" panose="02020603050405020304" pitchFamily="18" charset="0"/>
                <a:cs typeface="Times New Roman" panose="02020603050405020304" pitchFamily="18" charset="0"/>
              </a:rPr>
              <a:t>Aurdino</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GPS Module</a:t>
            </a:r>
          </a:p>
          <a:p>
            <a:r>
              <a:rPr lang="en-US" sz="2400" dirty="0">
                <a:latin typeface="Times New Roman" panose="02020603050405020304" pitchFamily="18" charset="0"/>
                <a:cs typeface="Times New Roman" panose="02020603050405020304" pitchFamily="18" charset="0"/>
              </a:rPr>
              <a:t>L298N Motor Driver</a:t>
            </a:r>
          </a:p>
          <a:p>
            <a:r>
              <a:rPr lang="en-US" sz="2400" dirty="0">
                <a:latin typeface="Times New Roman" panose="02020603050405020304" pitchFamily="18" charset="0"/>
                <a:cs typeface="Times New Roman" panose="02020603050405020304" pitchFamily="18" charset="0"/>
              </a:rPr>
              <a:t>Motors</a:t>
            </a:r>
          </a:p>
          <a:p>
            <a:r>
              <a:rPr lang="en-IN" sz="2400" dirty="0">
                <a:latin typeface="Times New Roman" panose="02020603050405020304" pitchFamily="18" charset="0"/>
                <a:cs typeface="Times New Roman" panose="02020603050405020304" pitchFamily="18" charset="0"/>
              </a:rPr>
              <a:t>Blynk Sensor</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048625"/>
          <p:cNvSpPr>
            <a:spLocks noGrp="1"/>
          </p:cNvSpPr>
          <p:nvPr>
            <p:ph type="title"/>
          </p:nvPr>
        </p:nvSpPr>
        <p:spPr/>
        <p:txBody>
          <a:bodyPr/>
          <a:lstStyle/>
          <a:p>
            <a:r>
              <a:rPr lang="en-US" sz="4800" b="1" dirty="0">
                <a:solidFill>
                  <a:schemeClr val="tx1"/>
                </a:solidFill>
                <a:latin typeface="Times New Roman" pitchFamily="18" charset="0"/>
                <a:cs typeface="Times New Roman" pitchFamily="18" charset="0"/>
              </a:rPr>
              <a:t>                          Aurdino</a:t>
            </a:r>
          </a:p>
        </p:txBody>
      </p:sp>
      <p:sp>
        <p:nvSpPr>
          <p:cNvPr id="1048623" name="Content Placeholder 1048626"/>
          <p:cNvSpPr>
            <a:spLocks noGrp="1"/>
          </p:cNvSpPr>
          <p:nvPr>
            <p:ph sz="quarter" idx="1"/>
          </p:nvPr>
        </p:nvSpPr>
        <p:spPr>
          <a:xfrm>
            <a:off x="404949" y="1763486"/>
            <a:ext cx="11177451" cy="4545874"/>
          </a:xfrm>
        </p:spPr>
        <p:txBody>
          <a:bodyPr>
            <a:normAutofit/>
          </a:bodyPr>
          <a:lstStyle/>
          <a:p>
            <a:pPr algn="just">
              <a:buFont typeface="Wingdings 2" pitchFamily="18" charset="2"/>
              <a:buChar char=""/>
            </a:pPr>
            <a:r>
              <a:rPr lang="en-US" sz="2000" dirty="0">
                <a:latin typeface="Times New Roman" pitchFamily="18" charset="0"/>
                <a:cs typeface="Times New Roman" pitchFamily="18" charset="0"/>
              </a:rPr>
              <a:t>Arduino is an open-source platform used for building electronics projects. </a:t>
            </a:r>
          </a:p>
          <a:p>
            <a:pPr algn="just">
              <a:buFont typeface="Wingdings 2" pitchFamily="18" charset="2"/>
              <a:buChar char=""/>
            </a:pPr>
            <a:r>
              <a:rPr lang="en-US" sz="2000" dirty="0">
                <a:latin typeface="Times New Roman" pitchFamily="18" charset="0"/>
                <a:cs typeface="Times New Roman" pitchFamily="18" charset="0"/>
              </a:rPr>
              <a:t>Arduino consists of both a physical programmable circuit board and a piece of software, or IDE that runs on your computer, used to write and upload computer code to the physical board</a:t>
            </a:r>
          </a:p>
        </p:txBody>
      </p:sp>
      <p:pic>
        <p:nvPicPr>
          <p:cNvPr id="2097155" name="Picture 3" descr="Arduino Uno - R3.jpg"/>
          <p:cNvPicPr>
            <a:picLocks/>
          </p:cNvPicPr>
          <p:nvPr/>
        </p:nvPicPr>
        <p:blipFill>
          <a:blip r:embed="rId2" cstate="print"/>
          <a:srcRect/>
          <a:stretch>
            <a:fillRect/>
          </a:stretch>
        </p:blipFill>
        <p:spPr>
          <a:xfrm>
            <a:off x="3762102" y="3422468"/>
            <a:ext cx="3278778" cy="23905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1"/>
          <p:cNvSpPr>
            <a:spLocks noGrp="1"/>
          </p:cNvSpPr>
          <p:nvPr>
            <p:ph type="title"/>
          </p:nvPr>
        </p:nvSpPr>
        <p:spPr/>
        <p:txBody>
          <a:bodyPr>
            <a:normAutofit/>
          </a:bodyPr>
          <a:lstStyle/>
          <a:p>
            <a:r>
              <a:rPr lang="en-IN" sz="4800" b="1" dirty="0">
                <a:solidFill>
                  <a:schemeClr val="tx1"/>
                </a:solidFill>
                <a:latin typeface="Times New Roman" pitchFamily="18" charset="0"/>
                <a:cs typeface="Times New Roman" pitchFamily="18" charset="0"/>
              </a:rPr>
              <a:t>NodeMCU</a:t>
            </a:r>
            <a:endParaRPr lang="en-US" sz="4800" b="1" dirty="0">
              <a:solidFill>
                <a:schemeClr val="tx1"/>
              </a:solidFill>
              <a:latin typeface="Times New Roman" pitchFamily="18" charset="0"/>
              <a:cs typeface="Times New Roman" pitchFamily="18" charset="0"/>
            </a:endParaRPr>
          </a:p>
        </p:txBody>
      </p:sp>
      <p:sp>
        <p:nvSpPr>
          <p:cNvPr id="1048625" name="Content Placeholder 2"/>
          <p:cNvSpPr>
            <a:spLocks noGrp="1"/>
          </p:cNvSpPr>
          <p:nvPr>
            <p:ph sz="quarter" idx="1"/>
          </p:nvPr>
        </p:nvSpPr>
        <p:spPr/>
        <p:txBody>
          <a:bodyPr>
            <a:normAutofit/>
          </a:bodyPr>
          <a:lstStyle/>
          <a:p>
            <a:r>
              <a:rPr lang="en-GB" sz="2000" b="1" dirty="0">
                <a:latin typeface="Times New Roman" pitchFamily="18" charset="0"/>
                <a:cs typeface="Times New Roman" pitchFamily="18" charset="0"/>
              </a:rPr>
              <a:t>NodeMCU</a:t>
            </a:r>
            <a:r>
              <a:rPr lang="en-GB" sz="2000" dirty="0">
                <a:latin typeface="Times New Roman" pitchFamily="18" charset="0"/>
                <a:cs typeface="Times New Roman" pitchFamily="18" charset="0"/>
              </a:rPr>
              <a:t> is an open source firmware for which open source prototyping board designs are available. </a:t>
            </a:r>
          </a:p>
          <a:p>
            <a:r>
              <a:rPr lang="en-GB" sz="2000" dirty="0">
                <a:latin typeface="Times New Roman" pitchFamily="18" charset="0"/>
                <a:cs typeface="Times New Roman" pitchFamily="18" charset="0"/>
              </a:rPr>
              <a:t>It is an open source software and hardware development environment that is built around a very inexpensive System-on-a-Chip called the </a:t>
            </a:r>
            <a:r>
              <a:rPr lang="en-GB" sz="2000" b="1" dirty="0">
                <a:latin typeface="Times New Roman" pitchFamily="18" charset="0"/>
                <a:cs typeface="Times New Roman" pitchFamily="18" charset="0"/>
              </a:rPr>
              <a:t>ESP8266</a:t>
            </a:r>
          </a:p>
          <a:p>
            <a:endParaRPr lang="en-GB"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pic>
        <p:nvPicPr>
          <p:cNvPr id="2097156" name="Picture 2"/>
          <p:cNvPicPr>
            <a:picLocks noChangeAspect="1" noChangeArrowheads="1"/>
          </p:cNvPicPr>
          <p:nvPr/>
        </p:nvPicPr>
        <p:blipFill>
          <a:blip r:embed="rId2"/>
          <a:srcRect/>
          <a:stretch>
            <a:fillRect/>
          </a:stretch>
        </p:blipFill>
        <p:spPr bwMode="auto">
          <a:xfrm>
            <a:off x="3968096" y="3542387"/>
            <a:ext cx="3782225" cy="200102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048600"/>
          <p:cNvSpPr>
            <a:spLocks noGrp="1"/>
          </p:cNvSpPr>
          <p:nvPr>
            <p:ph type="title"/>
          </p:nvPr>
        </p:nvSpPr>
        <p:spPr/>
        <p:txBody>
          <a:bodyPr>
            <a:normAutofit/>
          </a:bodyPr>
          <a:lstStyle/>
          <a:p>
            <a:r>
              <a:rPr lang="en-US" sz="4800" b="1" dirty="0">
                <a:solidFill>
                  <a:schemeClr val="tx1"/>
                </a:solidFill>
                <a:latin typeface="Times New Roman" pitchFamily="18" charset="0"/>
                <a:cs typeface="Times New Roman" pitchFamily="18" charset="0"/>
              </a:rPr>
              <a:t>                     Software used</a:t>
            </a:r>
          </a:p>
        </p:txBody>
      </p:sp>
      <p:sp>
        <p:nvSpPr>
          <p:cNvPr id="1048627" name="Content Placeholder 1048601"/>
          <p:cNvSpPr>
            <a:spLocks noGrp="1"/>
          </p:cNvSpPr>
          <p:nvPr>
            <p:ph sz="quarter" idx="1"/>
          </p:nvPr>
        </p:nvSpPr>
        <p:spPr>
          <a:xfrm>
            <a:off x="391886" y="1447800"/>
            <a:ext cx="11190514" cy="4572000"/>
          </a:xfrm>
        </p:spPr>
        <p:txBody>
          <a:bodyPr/>
          <a:lstStyle/>
          <a:p>
            <a:pPr marL="0" indent="0" algn="just">
              <a:buNone/>
            </a:pPr>
            <a:r>
              <a:rPr lang="en-US" sz="2400" dirty="0">
                <a:latin typeface="Times New Roman" pitchFamily="18" charset="0"/>
                <a:cs typeface="Times New Roman" pitchFamily="18" charset="0"/>
              </a:rPr>
              <a:t>This project is implemented using following software’s:</a:t>
            </a:r>
          </a:p>
          <a:p>
            <a:pPr algn="just"/>
            <a:r>
              <a:rPr lang="en-US" sz="2400" dirty="0">
                <a:latin typeface="Times New Roman" pitchFamily="18" charset="0"/>
                <a:cs typeface="Times New Roman" pitchFamily="18" charset="0"/>
              </a:rPr>
              <a:t>Express PCB – for designing circuit</a:t>
            </a:r>
          </a:p>
          <a:p>
            <a:pPr algn="just"/>
            <a:r>
              <a:rPr lang="en-US" sz="2400" dirty="0">
                <a:latin typeface="Times New Roman" pitchFamily="18" charset="0"/>
                <a:cs typeface="Times New Roman" pitchFamily="18" charset="0"/>
              </a:rPr>
              <a:t>Arduino IDE compiler - for compilation part</a:t>
            </a:r>
          </a:p>
          <a:p>
            <a:pPr algn="just"/>
            <a:r>
              <a:rPr lang="en-US" sz="2400" dirty="0">
                <a:latin typeface="Times New Roman" pitchFamily="18" charset="0"/>
                <a:cs typeface="Times New Roman" pitchFamily="18" charset="0"/>
              </a:rPr>
              <a:t>Proteus 7 (Embedded C) – for simulation part</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p:txBody>
          <a:bodyPr>
            <a:normAutofit/>
          </a:bodyPr>
          <a:lstStyle/>
          <a:p>
            <a:r>
              <a:rPr lang="en-IN" sz="4800" b="1" dirty="0">
                <a:solidFill>
                  <a:schemeClr val="tx1"/>
                </a:solidFill>
                <a:latin typeface="Times New Roman" pitchFamily="18" charset="0"/>
                <a:cs typeface="Times New Roman" pitchFamily="18" charset="0"/>
              </a:rPr>
              <a:t>                          Results</a:t>
            </a:r>
            <a:endParaRPr lang="en-US" sz="4800" b="1" dirty="0">
              <a:solidFill>
                <a:schemeClr val="tx1"/>
              </a:solidFill>
              <a:latin typeface="Times New Roman" pitchFamily="18" charset="0"/>
              <a:cs typeface="Times New Roman" pitchFamily="18" charset="0"/>
            </a:endParaRPr>
          </a:p>
        </p:txBody>
      </p:sp>
      <p:pic>
        <p:nvPicPr>
          <p:cNvPr id="2097157" name="Content Placeholder 7"/>
          <p:cNvPicPr>
            <a:picLocks noGrp="1" noChangeAspect="1"/>
          </p:cNvPicPr>
          <p:nvPr>
            <p:ph sz="quarter" idx="1"/>
          </p:nvPr>
        </p:nvPicPr>
        <p:blipFill>
          <a:blip r:embed="rId2"/>
          <a:stretch>
            <a:fillRect/>
          </a:stretch>
        </p:blipFill>
        <p:spPr>
          <a:xfrm>
            <a:off x="1149196" y="2117786"/>
            <a:ext cx="4324350" cy="3143250"/>
          </a:xfrm>
        </p:spPr>
      </p:pic>
      <p:pic>
        <p:nvPicPr>
          <p:cNvPr id="2097158" name="Picture 8"/>
          <p:cNvPicPr>
            <a:picLocks noChangeAspect="1"/>
          </p:cNvPicPr>
          <p:nvPr/>
        </p:nvPicPr>
        <p:blipFill>
          <a:blip r:embed="rId3" cstate="print"/>
          <a:stretch>
            <a:fillRect/>
          </a:stretch>
        </p:blipFill>
        <p:spPr>
          <a:xfrm>
            <a:off x="7590408" y="1914430"/>
            <a:ext cx="2495373" cy="34831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048597"/>
          <p:cNvSpPr>
            <a:spLocks noGrp="1"/>
          </p:cNvSpPr>
          <p:nvPr>
            <p:ph type="title"/>
          </p:nvPr>
        </p:nvSpPr>
        <p:spPr>
          <a:xfrm>
            <a:off x="1219200" y="0"/>
            <a:ext cx="10363200" cy="1280160"/>
          </a:xfrm>
        </p:spPr>
        <p:txBody>
          <a:bodyPr>
            <a:normAutofit/>
          </a:bodyPr>
          <a:lstStyle/>
          <a:p>
            <a:r>
              <a:rPr lang="en-US" dirty="0"/>
              <a:t>               </a:t>
            </a:r>
            <a:r>
              <a:rPr lang="en-US" sz="4800" b="1" dirty="0">
                <a:solidFill>
                  <a:schemeClr val="tx1"/>
                </a:solidFill>
                <a:latin typeface="Times New Roman" pitchFamily="18" charset="0"/>
                <a:cs typeface="Times New Roman" pitchFamily="18" charset="0"/>
              </a:rPr>
              <a:t>Advantages &amp; Applications</a:t>
            </a:r>
          </a:p>
        </p:txBody>
      </p:sp>
      <p:sp>
        <p:nvSpPr>
          <p:cNvPr id="1048630" name="Content Placeholder 1048598"/>
          <p:cNvSpPr>
            <a:spLocks noGrp="1"/>
          </p:cNvSpPr>
          <p:nvPr>
            <p:ph sz="quarter" idx="1"/>
          </p:nvPr>
        </p:nvSpPr>
        <p:spPr/>
        <p:txBody>
          <a:bodyPr>
            <a:normAutofit/>
          </a:bodyPr>
          <a:lstStyle/>
          <a:p>
            <a:pPr>
              <a:buNone/>
            </a:pPr>
            <a:r>
              <a:rPr lang="en-US" sz="2400" b="1" dirty="0">
                <a:latin typeface="Times New Roman" pitchFamily="18" charset="0"/>
                <a:cs typeface="Times New Roman" pitchFamily="18" charset="0"/>
              </a:rPr>
              <a:t>Advantages:</a:t>
            </a:r>
          </a:p>
          <a:p>
            <a:r>
              <a:rPr lang="en-IN" sz="2000" dirty="0">
                <a:latin typeface="Times New Roman" pitchFamily="18" charset="0"/>
                <a:cs typeface="Times New Roman" pitchFamily="18" charset="0"/>
              </a:rPr>
              <a:t>Totally advanced version for vehicle tracking &amp; vehicle emergency.</a:t>
            </a:r>
          </a:p>
          <a:p>
            <a:r>
              <a:rPr lang="en-IN" sz="2000" dirty="0">
                <a:latin typeface="Times New Roman" pitchFamily="18" charset="0"/>
                <a:cs typeface="Times New Roman" pitchFamily="18" charset="0"/>
              </a:rPr>
              <a:t>Easy to use for rural areas.</a:t>
            </a:r>
            <a:endParaRPr lang="en-US" sz="2000" dirty="0">
              <a:latin typeface="Times New Roman" pitchFamily="18" charset="0"/>
              <a:cs typeface="Times New Roman" pitchFamily="18" charset="0"/>
            </a:endParaRPr>
          </a:p>
          <a:p>
            <a:r>
              <a:rPr lang="en-IN" sz="2000" dirty="0">
                <a:latin typeface="Times New Roman" pitchFamily="18" charset="0"/>
                <a:cs typeface="Times New Roman" pitchFamily="18" charset="0"/>
              </a:rPr>
              <a:t>This application is easy to install.</a:t>
            </a:r>
            <a:endParaRPr lang="en-US" sz="2000" dirty="0">
              <a:latin typeface="Times New Roman" pitchFamily="18" charset="0"/>
              <a:cs typeface="Times New Roman" pitchFamily="18" charset="0"/>
            </a:endParaRPr>
          </a:p>
          <a:p>
            <a:pPr>
              <a:buNone/>
            </a:pPr>
            <a:r>
              <a:rPr lang="en-IN" sz="2400" b="1" dirty="0">
                <a:latin typeface="Times New Roman" pitchFamily="18" charset="0"/>
                <a:cs typeface="Times New Roman" pitchFamily="18" charset="0"/>
              </a:rPr>
              <a:t>Applications:</a:t>
            </a:r>
          </a:p>
          <a:p>
            <a:r>
              <a:rPr lang="en-IN" sz="2000" dirty="0">
                <a:latin typeface="Times New Roman" pitchFamily="18" charset="0"/>
                <a:cs typeface="Times New Roman" pitchFamily="18" charset="0"/>
              </a:rPr>
              <a:t>Where security is important there we can implement this project.</a:t>
            </a:r>
          </a:p>
          <a:p>
            <a:r>
              <a:rPr lang="en-IN" sz="2000" dirty="0">
                <a:latin typeface="Times New Roman" pitchFamily="18" charset="0"/>
                <a:cs typeface="Times New Roman" pitchFamily="18" charset="0"/>
              </a:rPr>
              <a:t>Used in cars, buses and trains for emergency.</a:t>
            </a:r>
          </a:p>
          <a:p>
            <a:r>
              <a:rPr lang="en-IN" sz="2000" dirty="0">
                <a:latin typeface="Times New Roman" pitchFamily="18" charset="0"/>
                <a:cs typeface="Times New Roman" pitchFamily="18" charset="0"/>
              </a:rPr>
              <a:t>Position tracking.</a:t>
            </a:r>
          </a:p>
          <a:p>
            <a:r>
              <a:rPr lang="en-IN" sz="2000" dirty="0">
                <a:latin typeface="Times New Roman" pitchFamily="18" charset="0"/>
                <a:cs typeface="Times New Roman" pitchFamily="18" charset="0"/>
              </a:rPr>
              <a:t>The device ensures vehicle security and smooth fleet management.</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048589"/>
          <p:cNvSpPr>
            <a:spLocks noGrp="1"/>
          </p:cNvSpPr>
          <p:nvPr>
            <p:ph type="title"/>
          </p:nvPr>
        </p:nvSpPr>
        <p:spPr/>
        <p:txBody>
          <a:bodyPr/>
          <a:lstStyle/>
          <a:p>
            <a:r>
              <a:rPr lang="en-US" dirty="0"/>
              <a:t>                        </a:t>
            </a:r>
            <a:r>
              <a:rPr lang="en-US" sz="4800" b="1" dirty="0">
                <a:solidFill>
                  <a:schemeClr val="tx1"/>
                </a:solidFill>
                <a:latin typeface="Times New Roman" pitchFamily="18" charset="0"/>
                <a:cs typeface="Times New Roman" pitchFamily="18" charset="0"/>
              </a:rPr>
              <a:t>Conclusion</a:t>
            </a:r>
          </a:p>
        </p:txBody>
      </p:sp>
      <p:sp>
        <p:nvSpPr>
          <p:cNvPr id="1048632" name="Content Placeholder 1048590"/>
          <p:cNvSpPr>
            <a:spLocks noGrp="1"/>
          </p:cNvSpPr>
          <p:nvPr>
            <p:ph sz="quarter" idx="1"/>
          </p:nvPr>
        </p:nvSpPr>
        <p:spPr>
          <a:xfrm rot="5150">
            <a:off x="610373" y="1450151"/>
            <a:ext cx="10972800" cy="4263677"/>
          </a:xfrm>
        </p:spPr>
        <p:txBody>
          <a:bodyPr>
            <a:normAutofit/>
          </a:bodyPr>
          <a:lstStyle/>
          <a:p>
            <a:pPr algn="just">
              <a:buNone/>
            </a:pPr>
            <a:r>
              <a:rPr lang="en-US" dirty="0"/>
              <a:t>		</a:t>
            </a:r>
            <a:r>
              <a:rPr lang="en-US" sz="2400" dirty="0">
                <a:latin typeface="Times New Roman" pitchFamily="18" charset="0"/>
                <a:cs typeface="Times New Roman" pitchFamily="18" charset="0"/>
              </a:rPr>
              <a:t>In this project, we have proposed an emergency contact and location tracking system for vehicular emergencies on road. The system is fully automatic in nature that can help us to minimize accidental and other emergency damages. This prototype is mainly designed for smart cities and IoT enabled vehicles.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048591"/>
          <p:cNvSpPr>
            <a:spLocks noGrp="1"/>
          </p:cNvSpPr>
          <p:nvPr>
            <p:ph type="title"/>
          </p:nvPr>
        </p:nvSpPr>
        <p:spPr/>
        <p:txBody>
          <a:bodyPr/>
          <a:lstStyle/>
          <a:p>
            <a:r>
              <a:rPr lang="en-US" dirty="0"/>
              <a:t>                            </a:t>
            </a:r>
            <a:r>
              <a:rPr lang="en-US" sz="4800" b="1" dirty="0">
                <a:solidFill>
                  <a:schemeClr val="tx1"/>
                </a:solidFill>
                <a:latin typeface="Times New Roman" pitchFamily="18" charset="0"/>
                <a:cs typeface="Times New Roman" pitchFamily="18" charset="0"/>
              </a:rPr>
              <a:t>Futurescope</a:t>
            </a:r>
          </a:p>
        </p:txBody>
      </p:sp>
      <p:sp>
        <p:nvSpPr>
          <p:cNvPr id="1048634" name="Content Placeholder 1048592"/>
          <p:cNvSpPr>
            <a:spLocks noGrp="1"/>
          </p:cNvSpPr>
          <p:nvPr>
            <p:ph sz="quarter" idx="1"/>
          </p:nvPr>
        </p:nvSpPr>
        <p:spPr>
          <a:xfrm>
            <a:off x="609600" y="1476103"/>
            <a:ext cx="10972800" cy="4848497"/>
          </a:xfrm>
        </p:spPr>
        <p:txBody>
          <a:bodyPr/>
          <a:lstStyle/>
          <a:p>
            <a:pPr algn="just">
              <a:buNone/>
            </a:pPr>
            <a:r>
              <a:rPr lang="en-US" dirty="0"/>
              <a:t>	</a:t>
            </a: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 </a:t>
            </a:r>
            <a:r>
              <a:rPr lang="en-GB" sz="2000" dirty="0">
                <a:latin typeface="Times New Roman" pitchFamily="18" charset="0"/>
                <a:cs typeface="Times New Roman" pitchFamily="18" charset="0"/>
              </a:rPr>
              <a:t>This system is only able to send emergency information from a vehicle to nearby rescue centers, but it can’t help to avoid any emergency issues. Also, the system is dependent on several mechanical and electrical devices in a car to detect accident or other emergencies. </a:t>
            </a:r>
            <a:r>
              <a:rPr lang="en-US" sz="2000" dirty="0">
                <a:latin typeface="Times New Roman" pitchFamily="18" charset="0"/>
                <a:cs typeface="Times New Roman" pitchFamily="18" charset="0"/>
              </a:rPr>
              <a:t>In future, we would like to include these concerns. Also, we are aiming to design a hardware secured on chip system featuring these services in future</a:t>
            </a:r>
            <a:r>
              <a:rPr lang="en-US" sz="2400" dirty="0">
                <a:latin typeface="Times New Roman" pitchFamily="18" charset="0"/>
                <a:cs typeface="Times New Roman"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048595"/>
          <p:cNvSpPr>
            <a:spLocks noGrp="1"/>
          </p:cNvSpPr>
          <p:nvPr>
            <p:ph type="title"/>
          </p:nvPr>
        </p:nvSpPr>
        <p:spPr/>
        <p:txBody>
          <a:bodyPr/>
          <a:lstStyle/>
          <a:p>
            <a:r>
              <a:rPr lang="en-US" dirty="0"/>
              <a:t>                            </a:t>
            </a:r>
            <a:r>
              <a:rPr lang="en-US" sz="4800" b="1" dirty="0">
                <a:solidFill>
                  <a:schemeClr val="tx1"/>
                </a:solidFill>
                <a:latin typeface="Times New Roman" pitchFamily="18" charset="0"/>
                <a:cs typeface="Times New Roman" pitchFamily="18" charset="0"/>
              </a:rPr>
              <a:t>References</a:t>
            </a:r>
          </a:p>
        </p:txBody>
      </p:sp>
      <p:sp>
        <p:nvSpPr>
          <p:cNvPr id="1048636" name="Content Placeholder 1048596"/>
          <p:cNvSpPr>
            <a:spLocks noGrp="1"/>
          </p:cNvSpPr>
          <p:nvPr>
            <p:ph sz="quarter" idx="1"/>
          </p:nvPr>
        </p:nvSpPr>
        <p:spPr>
          <a:xfrm>
            <a:off x="609600" y="1345474"/>
            <a:ext cx="10972800" cy="5466237"/>
          </a:xfrm>
        </p:spPr>
        <p:txBody>
          <a:bodyPr>
            <a:normAutofit/>
          </a:bodyPr>
          <a:lstStyle/>
          <a:p>
            <a:pPr algn="just"/>
            <a:r>
              <a:rPr lang="en-US" sz="2000" dirty="0">
                <a:latin typeface="Times New Roman" pitchFamily="18" charset="0"/>
                <a:cs typeface="Times New Roman" pitchFamily="18" charset="0"/>
              </a:rPr>
              <a:t>[1] L. Atzori, A. Iera, and G. Morabito, “The Internet of Things: A Survey,” Computer Networks, vol. 54, no. 15, pp. 2787–2805, 2010.</a:t>
            </a:r>
          </a:p>
          <a:p>
            <a:pPr algn="just"/>
            <a:r>
              <a:rPr lang="en-US" sz="2000" dirty="0">
                <a:latin typeface="Times New Roman" pitchFamily="18" charset="0"/>
                <a:cs typeface="Times New Roman" pitchFamily="18" charset="0"/>
              </a:rPr>
              <a:t>[2] E. A. Lee, “Cyber Physical Systems: Design Challenges,” in Object Oriented Real-Time Distributed Computing (ISORC), 2008 11th IEEE International Symposium on. IEEE, 2008, pp. 363–369. </a:t>
            </a:r>
          </a:p>
          <a:p>
            <a:pPr algn="just"/>
            <a:r>
              <a:rPr lang="en-US" sz="2000" dirty="0">
                <a:latin typeface="Times New Roman" pitchFamily="18" charset="0"/>
                <a:cs typeface="Times New Roman" pitchFamily="18" charset="0"/>
              </a:rPr>
              <a:t>[3] A. Zanella, N. Bui, A. Castellani, L. Vangelista, and M. Zorzi, “Internet of Ihings for Smart Cities,” Internet of Things Journal, IEEE, vol. 1, no. 1, pp. 22–32, 2014. </a:t>
            </a:r>
          </a:p>
          <a:p>
            <a:pPr algn="just"/>
            <a:r>
              <a:rPr lang="en-US" sz="2000" dirty="0">
                <a:latin typeface="Times New Roman" pitchFamily="18" charset="0"/>
                <a:cs typeface="Times New Roman" pitchFamily="18" charset="0"/>
              </a:rPr>
              <a:t>[4] “Digital India,” Online, 2015, (Last accessed March 18, 2016). [Online]. Available: http://www.digitalindia.gov.in/ </a:t>
            </a:r>
          </a:p>
          <a:p>
            <a:pPr algn="just"/>
            <a:r>
              <a:rPr lang="en-US" sz="2000" dirty="0">
                <a:latin typeface="Times New Roman" pitchFamily="18" charset="0"/>
                <a:cs typeface="Times New Roman" pitchFamily="18" charset="0"/>
              </a:rPr>
              <a:t>[5] J. Gubbi, R. Buyya, S. Marusic, and M. Palaniswami, “Internet of Things (IoT): A Vision, Architectural Elements, and Future Directions,” Future Generation Computer Systems, vol. 29, no. 7, pp. 1645–1660, 2013.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endParaRPr lang="en-IN" dirty="0"/>
          </a:p>
        </p:txBody>
      </p:sp>
      <p:pic>
        <p:nvPicPr>
          <p:cNvPr id="2097159" name="Content Placeholder 4"/>
          <p:cNvPicPr>
            <a:picLocks noGrp="1" noChangeAspect="1"/>
          </p:cNvPicPr>
          <p:nvPr>
            <p:ph sz="quarter" idx="1"/>
          </p:nvPr>
        </p:nvPicPr>
        <p:blipFill>
          <a:blip r:embed="rId2"/>
          <a:stretch>
            <a:fillRect/>
          </a:stretch>
        </p:blipFill>
        <p:spPr>
          <a:xfrm>
            <a:off x="-352696" y="-83127"/>
            <a:ext cx="12544696" cy="694112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1172</Words>
  <Application>Microsoft Office PowerPoint</Application>
  <PresentationFormat>Widescreen</PresentationFormat>
  <Paragraphs>97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Franklin Gothic Book</vt:lpstr>
      <vt:lpstr>Perpetua</vt:lpstr>
      <vt:lpstr>Times New Roman</vt:lpstr>
      <vt:lpstr>Wingdings 2</vt:lpstr>
      <vt:lpstr>Equity</vt:lpstr>
      <vt:lpstr>Department of Electronics and Engineering </vt:lpstr>
      <vt:lpstr>Contents</vt:lpstr>
      <vt:lpstr>Abstract</vt:lpstr>
      <vt:lpstr>Introduction</vt:lpstr>
      <vt:lpstr>What is IOT?</vt:lpstr>
      <vt:lpstr>         Existing &amp; Proposed method</vt:lpstr>
      <vt:lpstr>Architectural diagram of the proposed system</vt:lpstr>
      <vt:lpstr>                       Explanation</vt:lpstr>
      <vt:lpstr>                   Block Diagram</vt:lpstr>
      <vt:lpstr>Hardware Implementation</vt:lpstr>
      <vt:lpstr>                          Aurdino</vt:lpstr>
      <vt:lpstr>NodeMCU</vt:lpstr>
      <vt:lpstr>                     Software used</vt:lpstr>
      <vt:lpstr>                          Results</vt:lpstr>
      <vt:lpstr>               Advantages &amp; Applications</vt:lpstr>
      <vt:lpstr>                        Conclusion</vt:lpstr>
      <vt:lpstr>                            Futurescope</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Electronics and Communication Engineering</dc:title>
  <dc:creator>kishan kumar</dc:creator>
  <cp:lastModifiedBy>Jagadeesh kumar Siddireddy</cp:lastModifiedBy>
  <cp:revision>1</cp:revision>
  <dcterms:created xsi:type="dcterms:W3CDTF">2020-01-31T07:05:38Z</dcterms:created>
  <dcterms:modified xsi:type="dcterms:W3CDTF">2022-10-20T04:02:08Z</dcterms:modified>
</cp:coreProperties>
</file>